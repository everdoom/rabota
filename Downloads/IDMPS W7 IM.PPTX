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  <p:sldMasterId id="2147483651" r:id="rId2"/>
  </p:sldMasterIdLst>
  <p:notesMasterIdLst>
    <p:notesMasterId r:id="rId42"/>
  </p:notesMasterIdLst>
  <p:handoutMasterIdLst>
    <p:handoutMasterId r:id="rId43"/>
  </p:handoutMasterIdLst>
  <p:sldIdLst>
    <p:sldId id="323" r:id="rId3"/>
    <p:sldId id="391" r:id="rId4"/>
    <p:sldId id="328" r:id="rId5"/>
    <p:sldId id="308" r:id="rId6"/>
    <p:sldId id="344" r:id="rId7"/>
    <p:sldId id="346" r:id="rId8"/>
    <p:sldId id="392" r:id="rId9"/>
    <p:sldId id="416" r:id="rId10"/>
    <p:sldId id="388" r:id="rId11"/>
    <p:sldId id="389" r:id="rId12"/>
    <p:sldId id="350" r:id="rId13"/>
    <p:sldId id="351" r:id="rId14"/>
    <p:sldId id="418" r:id="rId15"/>
    <p:sldId id="393" r:id="rId16"/>
    <p:sldId id="394" r:id="rId17"/>
    <p:sldId id="395" r:id="rId18"/>
    <p:sldId id="396" r:id="rId19"/>
    <p:sldId id="397" r:id="rId20"/>
    <p:sldId id="398" r:id="rId21"/>
    <p:sldId id="399" r:id="rId22"/>
    <p:sldId id="400" r:id="rId23"/>
    <p:sldId id="401" r:id="rId24"/>
    <p:sldId id="402" r:id="rId25"/>
    <p:sldId id="403" r:id="rId26"/>
    <p:sldId id="404" r:id="rId27"/>
    <p:sldId id="405" r:id="rId28"/>
    <p:sldId id="406" r:id="rId29"/>
    <p:sldId id="407" r:id="rId30"/>
    <p:sldId id="408" r:id="rId31"/>
    <p:sldId id="409" r:id="rId32"/>
    <p:sldId id="410" r:id="rId33"/>
    <p:sldId id="411" r:id="rId34"/>
    <p:sldId id="412" r:id="rId35"/>
    <p:sldId id="413" r:id="rId36"/>
    <p:sldId id="414" r:id="rId37"/>
    <p:sldId id="415" r:id="rId38"/>
    <p:sldId id="359" r:id="rId39"/>
    <p:sldId id="385" r:id="rId40"/>
    <p:sldId id="381" r:id="rId41"/>
  </p:sldIdLst>
  <p:sldSz cx="9144000" cy="6858000" type="screen4x3"/>
  <p:notesSz cx="6797675" cy="9926638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A34C"/>
    <a:srgbClr val="808080"/>
    <a:srgbClr val="989898"/>
    <a:srgbClr val="444492"/>
    <a:srgbClr val="FFFF66"/>
    <a:srgbClr val="FB6C69"/>
    <a:srgbClr val="FA332E"/>
    <a:srgbClr val="6563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080" autoAdjust="0"/>
  </p:normalViewPr>
  <p:slideViewPr>
    <p:cSldViewPr>
      <p:cViewPr varScale="1">
        <p:scale>
          <a:sx n="62" d="100"/>
          <a:sy n="62" d="100"/>
        </p:scale>
        <p:origin x="-159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8352"/>
    </p:cViewPr>
  </p:sorterViewPr>
  <p:notesViewPr>
    <p:cSldViewPr>
      <p:cViewPr varScale="1">
        <p:scale>
          <a:sx n="71" d="100"/>
          <a:sy n="71" d="100"/>
        </p:scale>
        <p:origin x="-1620" y="-102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72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72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090122A3-2A4D-451C-A175-80C47DDE9CE9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35581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4113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38775" cy="4465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A0643657-A24F-49F1-9F00-4690B1F210C8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149536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15988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15988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15988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15988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15988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F77A01FF-2D85-4155-AC61-6B596ABE6981}" type="slidenum">
              <a:rPr lang="fr-FR" sz="1200" smtClean="0"/>
              <a:pPr eaLnBrk="1" hangingPunct="1"/>
              <a:t>1</a:t>
            </a:fld>
            <a:endParaRPr lang="fr-FR" sz="1200" smtClean="0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7863" y="4716463"/>
            <a:ext cx="5441950" cy="4467225"/>
          </a:xfrm>
          <a:noFill/>
        </p:spPr>
        <p:txBody>
          <a:bodyPr/>
          <a:lstStyle/>
          <a:p>
            <a:pPr algn="just"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0643657-A24F-49F1-9F00-4690B1F210C8}" type="slidenum">
              <a:rPr lang="fr-FR" smtClean="0"/>
              <a:pPr>
                <a:defRPr/>
              </a:pPr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40451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0643657-A24F-49F1-9F00-4690B1F210C8}" type="slidenum">
              <a:rPr lang="fr-FR" smtClean="0"/>
              <a:pPr>
                <a:defRPr/>
              </a:pPr>
              <a:t>39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07321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fond_150dpi_bleu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825" y="625475"/>
            <a:ext cx="7935913" cy="552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 descr="SANOFI_Logo_H_2011_Quadri copi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3" y="6308725"/>
            <a:ext cx="15843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335088" y="2176463"/>
            <a:ext cx="6461125" cy="1470025"/>
          </a:xfrm>
        </p:spPr>
        <p:txBody>
          <a:bodyPr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smtClean="0"/>
              <a:t>Cliquez pour modifier le style du titre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47788" y="4100513"/>
            <a:ext cx="6400800" cy="1752600"/>
          </a:xfrm>
        </p:spPr>
        <p:txBody>
          <a:bodyPr/>
          <a:lstStyle>
            <a:lvl1pPr marL="0" indent="0">
              <a:buFont typeface="Verdana" pitchFamily="34" charset="0"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smtClean="0"/>
              <a:t>Cliquez pour modifier le style des sous-titres du masque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|</a:t>
            </a:r>
            <a:r>
              <a:rPr lang="fr-FR" sz="900" baseline="16000"/>
              <a:t>        </a:t>
            </a:r>
            <a:fld id="{5B0C9445-6091-4D87-9A0F-5821B6C6B2E2}" type="slidenum">
              <a:rPr lang="fr-FR"/>
              <a:pPr>
                <a:defRPr/>
              </a:pPr>
              <a:t>‹#›</a:t>
            </a:fld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CSO - Operations Review Committee - date - COMPOUND</a:t>
            </a:r>
          </a:p>
        </p:txBody>
      </p:sp>
    </p:spTree>
    <p:extLst>
      <p:ext uri="{BB962C8B-B14F-4D97-AF65-F5344CB8AC3E}">
        <p14:creationId xmlns:p14="http://schemas.microsoft.com/office/powerpoint/2010/main" val="3059430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CSO - Operations Review Committee - date - COMPOUND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|</a:t>
            </a:r>
            <a:r>
              <a:rPr lang="fr-FR" sz="900" baseline="16000"/>
              <a:t>        </a:t>
            </a:r>
            <a:fld id="{9C7D3CED-9F5D-4CC0-84AD-22ACD574E331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2991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CSO - Operations Review Committee - date - COMPOUND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|</a:t>
            </a:r>
            <a:r>
              <a:rPr lang="fr-FR" sz="900" baseline="16000"/>
              <a:t>        </a:t>
            </a:r>
            <a:fld id="{8833E326-CECE-4757-B331-4F9CB0391102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0551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27063" y="1390650"/>
            <a:ext cx="3854450" cy="42481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33913" y="1390650"/>
            <a:ext cx="3856037" cy="42481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CSO - Operations Review Committee - date - COMPOUND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|</a:t>
            </a:r>
            <a:r>
              <a:rPr lang="fr-FR" sz="900" baseline="16000"/>
              <a:t>        </a:t>
            </a:r>
            <a:fld id="{98AD7F90-4E02-426A-9030-43A2390A7280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4612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CSO - Operations Review Committee - date - COMPOUND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|</a:t>
            </a:r>
            <a:r>
              <a:rPr lang="fr-FR" sz="900" baseline="16000"/>
              <a:t>        </a:t>
            </a:r>
            <a:fld id="{507FA425-F513-403E-A189-3F052C63A2A8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9838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CSO - Operations Review Committee - date - COMPOUND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|</a:t>
            </a:r>
            <a:r>
              <a:rPr lang="fr-FR" sz="900" baseline="16000"/>
              <a:t>        </a:t>
            </a:r>
            <a:fld id="{D3451CBC-4218-4E3E-BF16-B20251819070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1263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CSO - Operations Review Committee - date - COMPOUND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|</a:t>
            </a:r>
            <a:r>
              <a:rPr lang="fr-FR" sz="900" baseline="16000"/>
              <a:t>        </a:t>
            </a:r>
            <a:fld id="{39CB55FA-A74C-4E6C-912A-38670CBCADAB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1355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CSO - Operations Review Committee - date - COMPOUND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|</a:t>
            </a:r>
            <a:r>
              <a:rPr lang="fr-FR" sz="900" baseline="16000"/>
              <a:t>        </a:t>
            </a:r>
            <a:fld id="{08D0F356-252A-445C-8800-3EC7C994F6C2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5502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CSO - Operations Review Committee - date - COMPOUND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|</a:t>
            </a:r>
            <a:r>
              <a:rPr lang="fr-FR" sz="900" baseline="16000"/>
              <a:t>        </a:t>
            </a:r>
            <a:fld id="{3A727C94-B14E-4379-BD6C-E5BDF1C12916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9660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CSO - Operations Review Committee - date - COMPOUND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|</a:t>
            </a:r>
            <a:r>
              <a:rPr lang="fr-FR" sz="900" baseline="16000"/>
              <a:t>        </a:t>
            </a:r>
            <a:fld id="{E871BF19-16FA-4B2E-8BD1-C77549AF4BFE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6844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24625" y="284163"/>
            <a:ext cx="1965325" cy="5354637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27063" y="284163"/>
            <a:ext cx="5745162" cy="5354637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CSO - Operations Review Committee - date - COMPOUND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|</a:t>
            </a:r>
            <a:r>
              <a:rPr lang="fr-FR" sz="900" baseline="16000"/>
              <a:t>        </a:t>
            </a:r>
            <a:fld id="{79CBCE65-B193-4EB2-B1CA-BB6797093715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63139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fond_150dpi_bleu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825" y="625475"/>
            <a:ext cx="7935913" cy="552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 descr="SANOFI_Logo_H_2011_Quadri copi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3" y="6308725"/>
            <a:ext cx="15843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335088" y="2176463"/>
            <a:ext cx="6461125" cy="1470025"/>
          </a:xfrm>
        </p:spPr>
        <p:txBody>
          <a:bodyPr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noProof="0" smtClean="0"/>
              <a:t>Cliquez pour modifier le style du titre</a:t>
            </a:r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47788" y="4100513"/>
            <a:ext cx="6400800" cy="1752600"/>
          </a:xfrm>
        </p:spPr>
        <p:txBody>
          <a:bodyPr/>
          <a:lstStyle>
            <a:lvl1pPr marL="0" indent="0">
              <a:buFont typeface="Verdana" pitchFamily="34" charset="0"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fr-FR" noProof="0" smtClean="0"/>
              <a:t>Cliquez pour modifier le style des sous-titres du masque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       </a:t>
            </a:r>
            <a:fld id="{72B4827E-6665-417F-8C74-A514B0F39C61}" type="slidenum">
              <a:rPr lang="fr-FR" sz="800" baseline="0"/>
              <a:pPr>
                <a:defRPr/>
              </a:pPr>
              <a:t>‹#›</a:t>
            </a:fld>
            <a:endParaRPr lang="fr-FR" sz="800" baseline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CSO - Operations Review Committee - date - COMPOUND</a:t>
            </a:r>
          </a:p>
        </p:txBody>
      </p:sp>
    </p:spTree>
    <p:extLst>
      <p:ext uri="{BB962C8B-B14F-4D97-AF65-F5344CB8AC3E}">
        <p14:creationId xmlns:p14="http://schemas.microsoft.com/office/powerpoint/2010/main" val="9289073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CSO - Operations Review Committee - date - COMPOUND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       </a:t>
            </a:r>
            <a:fld id="{70E255F7-B1E1-4C31-A36F-E955EFB13278}" type="slidenum">
              <a:rPr lang="fr-FR" sz="800" baseline="0"/>
              <a:pPr>
                <a:defRPr/>
              </a:pPr>
              <a:t>‹#›</a:t>
            </a:fld>
            <a:endParaRPr lang="fr-FR" sz="800" baseline="0"/>
          </a:p>
        </p:txBody>
      </p:sp>
    </p:spTree>
    <p:extLst>
      <p:ext uri="{BB962C8B-B14F-4D97-AF65-F5344CB8AC3E}">
        <p14:creationId xmlns:p14="http://schemas.microsoft.com/office/powerpoint/2010/main" val="33402042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CSO - Operations Review Committee - date - COMPOUND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       </a:t>
            </a:r>
            <a:fld id="{469F076B-17E0-4E66-9D98-C078EEBB880E}" type="slidenum">
              <a:rPr lang="fr-FR" sz="800" baseline="0"/>
              <a:pPr>
                <a:defRPr/>
              </a:pPr>
              <a:t>‹#›</a:t>
            </a:fld>
            <a:endParaRPr lang="fr-FR" sz="800" baseline="0"/>
          </a:p>
        </p:txBody>
      </p:sp>
    </p:spTree>
    <p:extLst>
      <p:ext uri="{BB962C8B-B14F-4D97-AF65-F5344CB8AC3E}">
        <p14:creationId xmlns:p14="http://schemas.microsoft.com/office/powerpoint/2010/main" val="28802355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79388" y="1341438"/>
            <a:ext cx="4222750" cy="4657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54538" y="1341438"/>
            <a:ext cx="4224337" cy="4657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CSO - Operations Review Committee - date - COMPOUND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       </a:t>
            </a:r>
            <a:fld id="{717C795C-DD93-44F8-A643-76EF70FD4C8E}" type="slidenum">
              <a:rPr lang="fr-FR" sz="800" baseline="0"/>
              <a:pPr>
                <a:defRPr/>
              </a:pPr>
              <a:t>‹#›</a:t>
            </a:fld>
            <a:endParaRPr lang="fr-FR" sz="800" baseline="0"/>
          </a:p>
        </p:txBody>
      </p:sp>
    </p:spTree>
    <p:extLst>
      <p:ext uri="{BB962C8B-B14F-4D97-AF65-F5344CB8AC3E}">
        <p14:creationId xmlns:p14="http://schemas.microsoft.com/office/powerpoint/2010/main" val="1562545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CSO - Operations Review Committee - date - COMPOUND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       </a:t>
            </a:r>
            <a:fld id="{8F829927-7C90-48DF-AB7A-F471D304BB17}" type="slidenum">
              <a:rPr lang="fr-FR" sz="800" baseline="0"/>
              <a:pPr>
                <a:defRPr/>
              </a:pPr>
              <a:t>‹#›</a:t>
            </a:fld>
            <a:endParaRPr lang="fr-FR" sz="800" baseline="0"/>
          </a:p>
        </p:txBody>
      </p:sp>
    </p:spTree>
    <p:extLst>
      <p:ext uri="{BB962C8B-B14F-4D97-AF65-F5344CB8AC3E}">
        <p14:creationId xmlns:p14="http://schemas.microsoft.com/office/powerpoint/2010/main" val="31089309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CSO - Operations Review Committee - date - COMPOUND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       </a:t>
            </a:r>
            <a:fld id="{16AD0936-ED17-48A5-A901-0722B6E4D1B3}" type="slidenum">
              <a:rPr lang="fr-FR" sz="800" baseline="0"/>
              <a:pPr>
                <a:defRPr/>
              </a:pPr>
              <a:t>‹#›</a:t>
            </a:fld>
            <a:endParaRPr lang="fr-FR" sz="800" baseline="0"/>
          </a:p>
        </p:txBody>
      </p:sp>
    </p:spTree>
    <p:extLst>
      <p:ext uri="{BB962C8B-B14F-4D97-AF65-F5344CB8AC3E}">
        <p14:creationId xmlns:p14="http://schemas.microsoft.com/office/powerpoint/2010/main" val="37672062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CSO - Operations Review Committee - date - COMPOUND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       </a:t>
            </a:r>
            <a:fld id="{D8F45C8D-B136-4221-8E6F-89170A60D72A}" type="slidenum">
              <a:rPr lang="fr-FR" sz="800" baseline="0"/>
              <a:pPr>
                <a:defRPr/>
              </a:pPr>
              <a:t>‹#›</a:t>
            </a:fld>
            <a:endParaRPr lang="fr-FR" sz="800" baseline="0"/>
          </a:p>
        </p:txBody>
      </p:sp>
    </p:spTree>
    <p:extLst>
      <p:ext uri="{BB962C8B-B14F-4D97-AF65-F5344CB8AC3E}">
        <p14:creationId xmlns:p14="http://schemas.microsoft.com/office/powerpoint/2010/main" val="35546144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CSO - Operations Review Committee - date - COMPOUND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       </a:t>
            </a:r>
            <a:fld id="{3571B605-F57C-4859-98C2-5582293E5F61}" type="slidenum">
              <a:rPr lang="fr-FR" sz="800" baseline="0"/>
              <a:pPr>
                <a:defRPr/>
              </a:pPr>
              <a:t>‹#›</a:t>
            </a:fld>
            <a:endParaRPr lang="fr-FR" sz="800" baseline="0"/>
          </a:p>
        </p:txBody>
      </p:sp>
    </p:spTree>
    <p:extLst>
      <p:ext uri="{BB962C8B-B14F-4D97-AF65-F5344CB8AC3E}">
        <p14:creationId xmlns:p14="http://schemas.microsoft.com/office/powerpoint/2010/main" val="10490338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CSO - Operations Review Committee - date - COMPOUND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       </a:t>
            </a:r>
            <a:fld id="{E36135EF-D7FC-4E0B-B628-6AB6095CB3F3}" type="slidenum">
              <a:rPr lang="fr-FR" sz="800" baseline="0"/>
              <a:pPr>
                <a:defRPr/>
              </a:pPr>
              <a:t>‹#›</a:t>
            </a:fld>
            <a:endParaRPr lang="fr-FR" sz="800" baseline="0"/>
          </a:p>
        </p:txBody>
      </p:sp>
    </p:spTree>
    <p:extLst>
      <p:ext uri="{BB962C8B-B14F-4D97-AF65-F5344CB8AC3E}">
        <p14:creationId xmlns:p14="http://schemas.microsoft.com/office/powerpoint/2010/main" val="30289002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CSO - Operations Review Committee - date - COMPOUND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       </a:t>
            </a:r>
            <a:fld id="{0810B112-198D-4408-A429-CAB4053EA887}" type="slidenum">
              <a:rPr lang="fr-FR" sz="800" baseline="0"/>
              <a:pPr>
                <a:defRPr/>
              </a:pPr>
              <a:t>‹#›</a:t>
            </a:fld>
            <a:endParaRPr lang="fr-FR" sz="800" baseline="0"/>
          </a:p>
        </p:txBody>
      </p:sp>
    </p:spTree>
    <p:extLst>
      <p:ext uri="{BB962C8B-B14F-4D97-AF65-F5344CB8AC3E}">
        <p14:creationId xmlns:p14="http://schemas.microsoft.com/office/powerpoint/2010/main" val="33180328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84163"/>
            <a:ext cx="2149475" cy="571500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79388" y="284163"/>
            <a:ext cx="6297612" cy="5715000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CSO - Operations Review Committee - date - COMPOUND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       </a:t>
            </a:r>
            <a:fld id="{CCE1193C-EE83-4EB3-BF0F-6126E1743136}" type="slidenum">
              <a:rPr lang="fr-FR" sz="800" baseline="0"/>
              <a:pPr>
                <a:defRPr/>
              </a:pPr>
              <a:t>‹#›</a:t>
            </a:fld>
            <a:endParaRPr lang="fr-FR" sz="800" baseline="0"/>
          </a:p>
        </p:txBody>
      </p:sp>
    </p:spTree>
    <p:extLst>
      <p:ext uri="{BB962C8B-B14F-4D97-AF65-F5344CB8AC3E}">
        <p14:creationId xmlns:p14="http://schemas.microsoft.com/office/powerpoint/2010/main" val="17404553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re. Text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7063" y="284163"/>
            <a:ext cx="7858125" cy="84137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179388" y="1341438"/>
            <a:ext cx="4222750" cy="4657725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54538" y="1341438"/>
            <a:ext cx="4224337" cy="4657725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CSO - Operations Review Committee - date - COMPOUND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       </a:t>
            </a:r>
            <a:fld id="{300B74A9-0F8A-4AE1-87B3-1D4417F9F93E}" type="slidenum">
              <a:rPr lang="fr-FR" sz="800" baseline="0"/>
              <a:pPr>
                <a:defRPr/>
              </a:pPr>
              <a:t>‹#›</a:t>
            </a:fld>
            <a:endParaRPr lang="fr-FR" sz="800" baseline="0"/>
          </a:p>
        </p:txBody>
      </p:sp>
    </p:spTree>
    <p:extLst>
      <p:ext uri="{BB962C8B-B14F-4D97-AF65-F5344CB8AC3E}">
        <p14:creationId xmlns:p14="http://schemas.microsoft.com/office/powerpoint/2010/main" val="17453439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re et 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7063" y="284163"/>
            <a:ext cx="7858125" cy="84137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ableau 2"/>
          <p:cNvSpPr>
            <a:spLocks noGrp="1"/>
          </p:cNvSpPr>
          <p:nvPr>
            <p:ph type="tbl" idx="1"/>
          </p:nvPr>
        </p:nvSpPr>
        <p:spPr>
          <a:xfrm>
            <a:off x="179388" y="1341438"/>
            <a:ext cx="8599487" cy="4657725"/>
          </a:xfrm>
        </p:spPr>
        <p:txBody>
          <a:bodyPr/>
          <a:lstStyle/>
          <a:p>
            <a:pPr lvl="0"/>
            <a:endParaRPr lang="fr-FR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CSO - Operations Review Committee - date - COMPOUND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       </a:t>
            </a:r>
            <a:fld id="{AFF258C9-0C1E-4BD4-A359-410CCDB68C05}" type="slidenum">
              <a:rPr lang="fr-FR" sz="800" baseline="0"/>
              <a:pPr>
                <a:defRPr/>
              </a:pPr>
              <a:t>‹#›</a:t>
            </a:fld>
            <a:endParaRPr lang="fr-FR" sz="800" baseline="0"/>
          </a:p>
        </p:txBody>
      </p:sp>
    </p:spTree>
    <p:extLst>
      <p:ext uri="{BB962C8B-B14F-4D97-AF65-F5344CB8AC3E}">
        <p14:creationId xmlns:p14="http://schemas.microsoft.com/office/powerpoint/2010/main" val="1825987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27063" y="284163"/>
            <a:ext cx="7858125" cy="841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modifier le style du titre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7063" y="1390650"/>
            <a:ext cx="7862887" cy="424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modifier les styles du texte du masque</a:t>
            </a:r>
          </a:p>
          <a:p>
            <a:pPr lvl="1"/>
            <a:r>
              <a:rPr lang="en-GB" smtClean="0"/>
              <a:t>Deuxième niveau</a:t>
            </a:r>
          </a:p>
          <a:p>
            <a:pPr lvl="2"/>
            <a:r>
              <a:rPr lang="en-GB" smtClean="0"/>
              <a:t>Troisième niveau</a:t>
            </a:r>
          </a:p>
          <a:p>
            <a:pPr lvl="3"/>
            <a:r>
              <a:rPr lang="en-GB" smtClean="0"/>
              <a:t>Quatrième niveau</a:t>
            </a:r>
          </a:p>
          <a:p>
            <a:pPr lvl="4"/>
            <a:r>
              <a:rPr lang="en-GB" smtClean="0"/>
              <a:t>Cinquième niveau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165725" y="6427788"/>
            <a:ext cx="2895600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GB"/>
              <a:t>CSO - Operations Review Committee - date - COMPOUND</a:t>
            </a: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86725" y="6424613"/>
            <a:ext cx="4826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fr-FR"/>
              <a:t>|</a:t>
            </a:r>
            <a:r>
              <a:rPr lang="fr-FR" sz="900" baseline="16000"/>
              <a:t>        </a:t>
            </a:r>
            <a:fld id="{1A807626-B34F-4609-AFAD-967AC9FB1D23}" type="slidenum">
              <a:rPr lang="fr-FR"/>
              <a:pPr>
                <a:defRPr/>
              </a:pPr>
              <a:t>‹#›</a:t>
            </a:fld>
            <a:endParaRPr lang="fr-FR"/>
          </a:p>
        </p:txBody>
      </p:sp>
      <p:pic>
        <p:nvPicPr>
          <p:cNvPr id="1030" name="Picture 6" descr="SANOFI_Logo_H_2011_Quadri copie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3" y="6308725"/>
            <a:ext cx="15843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1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rgbClr val="989898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rgbClr val="989898"/>
          </a:solidFill>
          <a:latin typeface="Arial" charset="0"/>
          <a:cs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rgbClr val="989898"/>
          </a:solidFill>
          <a:latin typeface="Arial" charset="0"/>
          <a:cs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rgbClr val="989898"/>
          </a:solidFill>
          <a:latin typeface="Arial" charset="0"/>
          <a:cs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rgbClr val="989898"/>
          </a:solidFill>
          <a:latin typeface="Arial" charset="0"/>
          <a:cs typeface="Arial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rgbClr val="989898"/>
          </a:solidFill>
          <a:latin typeface="Arial" charset="0"/>
          <a:cs typeface="Arial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rgbClr val="989898"/>
          </a:solidFill>
          <a:latin typeface="Arial" charset="0"/>
          <a:cs typeface="Arial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rgbClr val="989898"/>
          </a:solidFill>
          <a:latin typeface="Arial" charset="0"/>
          <a:cs typeface="Arial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rgbClr val="989898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130000"/>
        <a:buFont typeface="Verdana" pitchFamily="34" charset="0"/>
        <a:buChar char="●"/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Verdana" pitchFamily="34" charset="0"/>
        <a:buChar char="●"/>
        <a:defRPr sz="1600" b="1">
          <a:solidFill>
            <a:srgbClr val="989898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1600">
          <a:solidFill>
            <a:srgbClr val="989898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1600">
          <a:solidFill>
            <a:srgbClr val="989898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1600">
          <a:solidFill>
            <a:srgbClr val="989898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sz="1600">
          <a:solidFill>
            <a:srgbClr val="989898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sz="1600">
          <a:solidFill>
            <a:srgbClr val="989898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sz="1600">
          <a:solidFill>
            <a:srgbClr val="989898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sz="1600">
          <a:solidFill>
            <a:srgbClr val="989898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27063" y="284163"/>
            <a:ext cx="7858125" cy="841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pour modifier le style du titre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341438"/>
            <a:ext cx="8599487" cy="4657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165725" y="6427788"/>
            <a:ext cx="2895600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fr-FR"/>
              <a:t>CSO - Operations Review Committee - date - COMPOUND</a:t>
            </a:r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86725" y="6424613"/>
            <a:ext cx="482600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defRPr sz="900" baseline="16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fr-FR"/>
              <a:t>       </a:t>
            </a:r>
            <a:fld id="{A28B819E-84BF-4BA9-84EF-D12737FB8500}" type="slidenum">
              <a:rPr lang="fr-FR" sz="800" baseline="0"/>
              <a:pPr>
                <a:defRPr/>
              </a:pPr>
              <a:t>‹#›</a:t>
            </a:fld>
            <a:endParaRPr lang="fr-FR" sz="800" baseline="0"/>
          </a:p>
        </p:txBody>
      </p:sp>
      <p:pic>
        <p:nvPicPr>
          <p:cNvPr id="2054" name="Picture 6" descr="SANOFI_Logo_H_2011_Quadri copie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3" y="6308725"/>
            <a:ext cx="15843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69" r:id="rId2"/>
    <p:sldLayoutId id="2147483870" r:id="rId3"/>
    <p:sldLayoutId id="2147483871" r:id="rId4"/>
    <p:sldLayoutId id="2147483872" r:id="rId5"/>
    <p:sldLayoutId id="2147483873" r:id="rId6"/>
    <p:sldLayoutId id="2147483874" r:id="rId7"/>
    <p:sldLayoutId id="2147483875" r:id="rId8"/>
    <p:sldLayoutId id="2147483876" r:id="rId9"/>
    <p:sldLayoutId id="2147483877" r:id="rId10"/>
    <p:sldLayoutId id="2147483878" r:id="rId11"/>
    <p:sldLayoutId id="2147483879" r:id="rId12"/>
    <p:sldLayoutId id="2147483880" r:id="rId13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rgbClr val="989898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rgbClr val="989898"/>
          </a:solidFill>
          <a:latin typeface="Arial" charset="0"/>
          <a:cs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rgbClr val="989898"/>
          </a:solidFill>
          <a:latin typeface="Arial" charset="0"/>
          <a:cs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rgbClr val="989898"/>
          </a:solidFill>
          <a:latin typeface="Arial" charset="0"/>
          <a:cs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rgbClr val="989898"/>
          </a:solidFill>
          <a:latin typeface="Arial" charset="0"/>
          <a:cs typeface="Arial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rgbClr val="989898"/>
          </a:solidFill>
          <a:latin typeface="Arial" charset="0"/>
          <a:cs typeface="Arial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rgbClr val="989898"/>
          </a:solidFill>
          <a:latin typeface="Arial" charset="0"/>
          <a:cs typeface="Arial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rgbClr val="989898"/>
          </a:solidFill>
          <a:latin typeface="Arial" charset="0"/>
          <a:cs typeface="Arial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rgbClr val="989898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130000"/>
        <a:buFont typeface="Verdana" pitchFamily="34" charset="0"/>
        <a:buChar char="●"/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Verdana" pitchFamily="34" charset="0"/>
        <a:buChar char="●"/>
        <a:defRPr sz="1600" b="1">
          <a:solidFill>
            <a:srgbClr val="989898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1600">
          <a:solidFill>
            <a:srgbClr val="989898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1600">
          <a:solidFill>
            <a:srgbClr val="989898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1600">
          <a:solidFill>
            <a:srgbClr val="989898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sz="1600">
          <a:solidFill>
            <a:srgbClr val="989898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sz="1600">
          <a:solidFill>
            <a:srgbClr val="989898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sz="1600">
          <a:solidFill>
            <a:srgbClr val="989898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Char char="•"/>
        <a:defRPr sz="1600">
          <a:solidFill>
            <a:srgbClr val="989898"/>
          </a:solidFill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2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55650" y="1700213"/>
            <a:ext cx="7704138" cy="2305050"/>
          </a:xfrm>
        </p:spPr>
        <p:txBody>
          <a:bodyPr/>
          <a:lstStyle/>
          <a:p>
            <a:pPr algn="ctr" eaLnBrk="1" hangingPunct="1"/>
            <a:r>
              <a:rPr lang="en-US" sz="3100" b="1" dirty="0" smtClean="0"/>
              <a:t/>
            </a:r>
            <a:br>
              <a:rPr lang="en-US" sz="3100" b="1" dirty="0" smtClean="0"/>
            </a:br>
            <a:r>
              <a:rPr lang="en-US" sz="3100" b="1" dirty="0" smtClean="0"/>
              <a:t>IDMPS Wave 7</a:t>
            </a:r>
            <a:br>
              <a:rPr lang="en-US" sz="3100" b="1" dirty="0" smtClean="0"/>
            </a:br>
            <a:r>
              <a:rPr lang="ru-RU" sz="3100" b="1" dirty="0" smtClean="0"/>
              <a:t>Операционные моменты проведения исследования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/>
            </a:r>
            <a:br>
              <a:rPr lang="en-US" sz="1600" dirty="0" smtClean="0"/>
            </a:br>
            <a:endParaRPr lang="en-US" sz="2400" i="1" dirty="0" smtClean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00113" y="5156200"/>
            <a:ext cx="6848475" cy="86518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sz="1400" dirty="0" smtClean="0"/>
          </a:p>
          <a:p>
            <a:pPr eaLnBrk="1" hangingPunct="1">
              <a:lnSpc>
                <a:spcPct val="90000"/>
              </a:lnSpc>
            </a:pPr>
            <a:r>
              <a:rPr lang="ru-RU" sz="1400" dirty="0" smtClean="0"/>
              <a:t>Юлия Ковалевская</a:t>
            </a:r>
            <a:r>
              <a:rPr lang="en-US" sz="1400" dirty="0" smtClean="0"/>
              <a:t>, </a:t>
            </a:r>
            <a:r>
              <a:rPr lang="ru-RU" sz="1400" dirty="0" smtClean="0"/>
              <a:t>старший специалист по клиническим исследованиям</a:t>
            </a:r>
            <a:endParaRPr lang="en-US" sz="1400" dirty="0" smtClean="0"/>
          </a:p>
          <a:p>
            <a:pPr eaLnBrk="1" hangingPunct="1">
              <a:lnSpc>
                <a:spcPct val="90000"/>
              </a:lnSpc>
            </a:pPr>
            <a:r>
              <a:rPr lang="ru-RU" sz="1400" i="1" dirty="0" smtClean="0"/>
              <a:t>Конференция исследователей</a:t>
            </a:r>
            <a:r>
              <a:rPr lang="en-US" sz="1400" i="1" dirty="0" smtClean="0"/>
              <a:t> </a:t>
            </a:r>
            <a:r>
              <a:rPr lang="en-US" sz="1400" i="1" dirty="0"/>
              <a:t>– </a:t>
            </a:r>
            <a:r>
              <a:rPr lang="en-US" sz="1400" i="1" dirty="0" smtClean="0"/>
              <a:t>12 </a:t>
            </a:r>
            <a:r>
              <a:rPr lang="ru-RU" sz="1400" i="1" dirty="0" smtClean="0"/>
              <a:t>апреля</a:t>
            </a:r>
            <a:r>
              <a:rPr lang="en-US" sz="1400" i="1" dirty="0" smtClean="0"/>
              <a:t> 2016</a:t>
            </a:r>
            <a:r>
              <a:rPr lang="en-US" sz="2000" i="1" dirty="0"/>
              <a:t/>
            </a:r>
            <a:br>
              <a:rPr lang="en-US" sz="2000" i="1" dirty="0"/>
            </a:br>
            <a:endParaRPr lang="en-US" sz="1400" dirty="0" smtClean="0"/>
          </a:p>
          <a:p>
            <a:pPr eaLnBrk="1" hangingPunct="1">
              <a:lnSpc>
                <a:spcPct val="90000"/>
              </a:lnSpc>
            </a:pPr>
            <a:endParaRPr lang="en-US" sz="1400" dirty="0" smtClean="0"/>
          </a:p>
          <a:p>
            <a:pPr eaLnBrk="1" hangingPunct="1">
              <a:lnSpc>
                <a:spcPct val="90000"/>
              </a:lnSpc>
            </a:pPr>
            <a:endParaRPr lang="en-US" sz="1400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2051" y="6224415"/>
            <a:ext cx="1224136" cy="571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Цель исследования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2400" b="1" dirty="0" smtClean="0"/>
              <a:t>Первичная цель:</a:t>
            </a:r>
          </a:p>
          <a:p>
            <a:r>
              <a:rPr lang="ru-RU" sz="2400" dirty="0" smtClean="0"/>
              <a:t>Оценка ведения пациентов с сахарным диабетом </a:t>
            </a:r>
            <a:r>
              <a:rPr lang="en-US" sz="2400" dirty="0" smtClean="0"/>
              <a:t>II </a:t>
            </a:r>
            <a:r>
              <a:rPr lang="ru-RU" sz="2400" dirty="0" smtClean="0"/>
              <a:t>типа в современной медицинской практике</a:t>
            </a:r>
          </a:p>
          <a:p>
            <a:endParaRPr lang="ru-RU" sz="2400" dirty="0"/>
          </a:p>
          <a:p>
            <a:pPr marL="0" indent="0">
              <a:buNone/>
            </a:pPr>
            <a:r>
              <a:rPr lang="ru-RU" sz="2400" b="1" dirty="0" smtClean="0"/>
              <a:t>Вторичная цель:</a:t>
            </a:r>
          </a:p>
          <a:p>
            <a:r>
              <a:rPr lang="ru-RU" sz="2400" dirty="0"/>
              <a:t>Оценка ведения пациентов с сахарным диабетом </a:t>
            </a:r>
            <a:r>
              <a:rPr lang="en-US" sz="2400" dirty="0" smtClean="0"/>
              <a:t>I </a:t>
            </a:r>
            <a:r>
              <a:rPr lang="ru-RU" sz="2400" dirty="0"/>
              <a:t>типа в современной медицинской практике</a:t>
            </a:r>
          </a:p>
          <a:p>
            <a:r>
              <a:rPr lang="ru-RU" sz="2400" dirty="0" smtClean="0"/>
              <a:t>Оценка прогностических факторов для достижения целевого уровня </a:t>
            </a:r>
            <a:r>
              <a:rPr lang="ru-RU" sz="2400" dirty="0" err="1" smtClean="0"/>
              <a:t>гликозилированого</a:t>
            </a:r>
            <a:r>
              <a:rPr lang="ru-RU" sz="2400" dirty="0" smtClean="0"/>
              <a:t> гемоглобина (</a:t>
            </a:r>
            <a:r>
              <a:rPr lang="en-US" sz="2400" dirty="0" smtClean="0"/>
              <a:t>HbA1c</a:t>
            </a:r>
            <a:r>
              <a:rPr lang="ru-RU" sz="2400" dirty="0" smtClean="0"/>
              <a:t>)</a:t>
            </a:r>
            <a:r>
              <a:rPr lang="en-US" sz="2400" dirty="0" smtClean="0"/>
              <a:t> </a:t>
            </a:r>
            <a:r>
              <a:rPr lang="ru-RU" sz="2400" dirty="0" smtClean="0"/>
              <a:t>у пациентов с сахарным диабетом </a:t>
            </a:r>
            <a:r>
              <a:rPr lang="en-US" sz="2400" dirty="0" smtClean="0"/>
              <a:t>I</a:t>
            </a:r>
            <a:r>
              <a:rPr lang="ru-RU" sz="2400" dirty="0" smtClean="0"/>
              <a:t> и</a:t>
            </a:r>
            <a:r>
              <a:rPr lang="en-US" sz="2400" dirty="0" smtClean="0"/>
              <a:t> II</a:t>
            </a:r>
            <a:r>
              <a:rPr lang="ru-RU" sz="2400" dirty="0" smtClean="0"/>
              <a:t> типа</a:t>
            </a:r>
            <a:r>
              <a:rPr lang="en-US" sz="2400" dirty="0" smtClean="0"/>
              <a:t> 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       </a:t>
            </a:r>
            <a:fld id="{70E255F7-B1E1-4C31-A36F-E955EFB13278}" type="slidenum">
              <a:rPr lang="fr-FR" sz="800" baseline="0" smtClean="0"/>
              <a:pPr>
                <a:defRPr/>
              </a:pPr>
              <a:t>2</a:t>
            </a:fld>
            <a:endParaRPr lang="fr-FR" sz="800" baseline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28058"/>
            <a:ext cx="2031399" cy="1090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72254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4"/>
          <p:cNvSpPr>
            <a:spLocks noGrp="1" noChangeArrowheads="1"/>
          </p:cNvSpPr>
          <p:nvPr>
            <p:ph type="title"/>
          </p:nvPr>
        </p:nvSpPr>
        <p:spPr>
          <a:xfrm>
            <a:off x="609600" y="457200"/>
            <a:ext cx="7858125" cy="477838"/>
          </a:xfrm>
          <a:noFill/>
        </p:spPr>
        <p:txBody>
          <a:bodyPr/>
          <a:lstStyle/>
          <a:p>
            <a:pPr eaLnBrk="1" hangingPunct="1"/>
            <a:r>
              <a:rPr lang="ru-RU" sz="2800" dirty="0" smtClean="0"/>
              <a:t>Критерии включения</a:t>
            </a:r>
            <a:r>
              <a:rPr lang="en-US" sz="2800" dirty="0" smtClean="0"/>
              <a:t>/</a:t>
            </a:r>
            <a:r>
              <a:rPr lang="ru-RU" sz="2800" dirty="0" smtClean="0"/>
              <a:t>исключения</a:t>
            </a:r>
            <a:endParaRPr lang="fr-FR" sz="2800" dirty="0" smtClean="0"/>
          </a:p>
        </p:txBody>
      </p:sp>
      <p:sp>
        <p:nvSpPr>
          <p:cNvPr id="16387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539750" y="1628775"/>
            <a:ext cx="8208963" cy="3535363"/>
          </a:xfrm>
          <a:noFill/>
        </p:spPr>
        <p:txBody>
          <a:bodyPr/>
          <a:lstStyle/>
          <a:p>
            <a:r>
              <a:rPr lang="ru-RU" b="1" u="sng" dirty="0" smtClean="0"/>
              <a:t>Критерии включения</a:t>
            </a:r>
            <a:endParaRPr lang="ru-RU" dirty="0" smtClean="0"/>
          </a:p>
          <a:p>
            <a:pPr marL="622300" lvl="0" indent="-285750">
              <a:buFont typeface="Wingdings" pitchFamily="2" charset="2"/>
              <a:buChar char="§"/>
            </a:pPr>
            <a:r>
              <a:rPr lang="ru-RU" dirty="0" smtClean="0"/>
              <a:t>Пациенты старше 18 лет,</a:t>
            </a:r>
          </a:p>
          <a:p>
            <a:pPr marL="622300" lvl="0" indent="-285750">
              <a:buFont typeface="Wingdings" pitchFamily="2" charset="2"/>
              <a:buChar char="§"/>
            </a:pPr>
            <a:r>
              <a:rPr lang="ru-RU" dirty="0" smtClean="0"/>
              <a:t>Пациенты с диагнозом сахарный диабет I или II типа,</a:t>
            </a:r>
          </a:p>
          <a:p>
            <a:pPr marL="622300" lvl="0" indent="-285750">
              <a:buFont typeface="Wingdings" pitchFamily="2" charset="2"/>
              <a:buChar char="§"/>
            </a:pPr>
            <a:r>
              <a:rPr lang="ru-RU" dirty="0" smtClean="0"/>
              <a:t>Пациенты, которые подписали информированное согласие перед включением в </a:t>
            </a:r>
            <a:r>
              <a:rPr lang="ru-RU" dirty="0" err="1" smtClean="0"/>
              <a:t>неинтервенционное</a:t>
            </a:r>
            <a:r>
              <a:rPr lang="ru-RU" dirty="0" smtClean="0"/>
              <a:t> исследование.</a:t>
            </a:r>
          </a:p>
          <a:p>
            <a:r>
              <a:rPr lang="ru-RU" b="1" u="sng" dirty="0" smtClean="0"/>
              <a:t>Критерии исключения</a:t>
            </a:r>
            <a:endParaRPr lang="ru-RU" dirty="0" smtClean="0"/>
          </a:p>
          <a:p>
            <a:pPr marL="622300" lvl="0" indent="-285750">
              <a:buFont typeface="Wingdings" pitchFamily="2" charset="2"/>
              <a:buChar char="§"/>
            </a:pPr>
            <a:r>
              <a:rPr lang="ru-RU" dirty="0" smtClean="0"/>
              <a:t>Пациенты, которые на данный момент участвуют в другом исследовании,</a:t>
            </a:r>
          </a:p>
          <a:p>
            <a:pPr marL="622300" lvl="0" indent="-285750">
              <a:buFont typeface="Wingdings" pitchFamily="2" charset="2"/>
              <a:buChar char="§"/>
            </a:pPr>
            <a:r>
              <a:rPr lang="ru-RU" dirty="0" smtClean="0"/>
              <a:t>Пациенты, которые участвовали в предыдущих этапах (волнах) исследования IDMPS</a:t>
            </a:r>
          </a:p>
          <a:p>
            <a:pPr marL="622300" lvl="0" indent="-285750">
              <a:buFont typeface="Wingdings" pitchFamily="2" charset="2"/>
              <a:buChar char="§"/>
            </a:pPr>
            <a:r>
              <a:rPr lang="ru-RU" dirty="0" smtClean="0"/>
              <a:t>Пациенты с временной инсулинотерапией: </a:t>
            </a:r>
            <a:r>
              <a:rPr lang="ru-RU" dirty="0" err="1" smtClean="0"/>
              <a:t>гестационный</a:t>
            </a:r>
            <a:r>
              <a:rPr lang="ru-RU" dirty="0" smtClean="0"/>
              <a:t> диабет, хирургическая операция, рак поджелудочной железы</a:t>
            </a: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28058"/>
            <a:ext cx="2031399" cy="1090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       </a:t>
            </a:r>
            <a:fld id="{70E255F7-B1E1-4C31-A36F-E955EFB13278}" type="slidenum">
              <a:rPr lang="fr-FR" sz="800" baseline="0" smtClean="0"/>
              <a:pPr>
                <a:defRPr/>
              </a:pPr>
              <a:t>3</a:t>
            </a:fld>
            <a:endParaRPr lang="fr-FR" sz="800" baseline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u numéro de diapositive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900" smtClean="0">
                <a:solidFill>
                  <a:srgbClr val="000000"/>
                </a:solidFill>
              </a:rPr>
              <a:t>       </a:t>
            </a:r>
            <a:fld id="{F4671C50-BD66-48D8-BF0F-E1E32CF07953}" type="slidenum">
              <a:rPr lang="fr-FR" sz="800" baseline="0" smtClean="0">
                <a:solidFill>
                  <a:srgbClr val="000000"/>
                </a:solidFill>
              </a:rPr>
              <a:pPr eaLnBrk="1" hangingPunct="1"/>
              <a:t>4</a:t>
            </a:fld>
            <a:endParaRPr lang="fr-FR" sz="800" baseline="0" smtClean="0">
              <a:solidFill>
                <a:srgbClr val="000000"/>
              </a:solidFill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627063" y="428625"/>
            <a:ext cx="7858125" cy="552450"/>
          </a:xfrm>
        </p:spPr>
        <p:txBody>
          <a:bodyPr/>
          <a:lstStyle/>
          <a:p>
            <a:pPr eaLnBrk="1" hangingPunct="1"/>
            <a:r>
              <a:rPr lang="ru-RU" sz="2800" dirty="0" smtClean="0"/>
              <a:t>Период набора</a:t>
            </a:r>
            <a:endParaRPr lang="fr-FR" sz="2800" dirty="0" smtClean="0"/>
          </a:p>
        </p:txBody>
      </p:sp>
      <p:sp>
        <p:nvSpPr>
          <p:cNvPr id="21546" name="Text Box 43"/>
          <p:cNvSpPr txBox="1">
            <a:spLocks noChangeArrowheads="1"/>
          </p:cNvSpPr>
          <p:nvPr/>
        </p:nvSpPr>
        <p:spPr bwMode="auto">
          <a:xfrm>
            <a:off x="5343525" y="376238"/>
            <a:ext cx="1841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fr-FR"/>
          </a:p>
        </p:txBody>
      </p:sp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>
          <a:xfrm>
            <a:off x="539552" y="1268760"/>
            <a:ext cx="7992888" cy="4657725"/>
          </a:xfrm>
        </p:spPr>
        <p:txBody>
          <a:bodyPr/>
          <a:lstStyle/>
          <a:p>
            <a:pPr marL="1173162" indent="-457200">
              <a:buFont typeface="Arial" pitchFamily="34" charset="0"/>
              <a:buChar char="•"/>
            </a:pPr>
            <a:r>
              <a:rPr lang="ru-RU" sz="2800" dirty="0" smtClean="0"/>
              <a:t>Начало набора – </a:t>
            </a:r>
            <a:r>
              <a:rPr lang="ru-RU" sz="2800" b="1" dirty="0" smtClean="0">
                <a:solidFill>
                  <a:srgbClr val="FF0000"/>
                </a:solidFill>
              </a:rPr>
              <a:t>18 апреля 2016 </a:t>
            </a:r>
            <a:r>
              <a:rPr lang="ru-RU" sz="2800" b="1" dirty="0" smtClean="0"/>
              <a:t>для </a:t>
            </a:r>
            <a:r>
              <a:rPr lang="ru-RU" sz="2800" dirty="0" smtClean="0"/>
              <a:t>всех центров</a:t>
            </a:r>
          </a:p>
          <a:p>
            <a:pPr marL="1173162" indent="-457200">
              <a:buFont typeface="Arial" pitchFamily="34" charset="0"/>
              <a:buChar char="•"/>
            </a:pPr>
            <a:r>
              <a:rPr lang="ru-RU" sz="2800" dirty="0" smtClean="0"/>
              <a:t>Включение последнего пациента –       </a:t>
            </a:r>
            <a:r>
              <a:rPr lang="ru-RU" sz="2800" b="1" dirty="0" smtClean="0">
                <a:solidFill>
                  <a:srgbClr val="FF0000"/>
                </a:solidFill>
              </a:rPr>
              <a:t>29 апреля 2016</a:t>
            </a:r>
            <a:r>
              <a:rPr lang="ru-RU" sz="2800" b="1" dirty="0" smtClean="0"/>
              <a:t>.</a:t>
            </a:r>
          </a:p>
          <a:p>
            <a:endParaRPr lang="ru-RU" sz="3200" dirty="0" smtClean="0"/>
          </a:p>
          <a:p>
            <a:r>
              <a:rPr lang="ru-RU" sz="2800" dirty="0" smtClean="0"/>
              <a:t>Каждый центр должен набрать </a:t>
            </a:r>
            <a:r>
              <a:rPr lang="ru-RU" sz="2800" b="1" u="sng" dirty="0" smtClean="0">
                <a:solidFill>
                  <a:srgbClr val="FF0000"/>
                </a:solidFill>
              </a:rPr>
              <a:t>15 пациентов (10 с II типом и 5 с I типом сахарного диабета</a:t>
            </a:r>
            <a:r>
              <a:rPr lang="ru-RU" sz="2800" b="1" u="sng" dirty="0" smtClean="0"/>
              <a:t>)</a:t>
            </a:r>
            <a:r>
              <a:rPr lang="ru-RU" sz="2800" dirty="0" smtClean="0"/>
              <a:t> в течении 2-х недель или 10-и рабочих дней с момента включения первого пациента в исследование.</a:t>
            </a:r>
            <a:endParaRPr lang="ru-RU" sz="2800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28058"/>
            <a:ext cx="2031399" cy="1090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fond_150dpi_bleu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546100"/>
            <a:ext cx="8077200" cy="562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5" name="Text Box 4"/>
          <p:cNvSpPr txBox="1">
            <a:spLocks noChangeArrowheads="1"/>
          </p:cNvSpPr>
          <p:nvPr/>
        </p:nvSpPr>
        <p:spPr bwMode="auto">
          <a:xfrm>
            <a:off x="1907704" y="2925763"/>
            <a:ext cx="5709383" cy="584775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ru-RU" sz="3200" dirty="0" smtClean="0">
                <a:solidFill>
                  <a:schemeClr val="bg1"/>
                </a:solidFill>
              </a:rPr>
              <a:t>Документация исследования</a:t>
            </a:r>
            <a:endParaRPr lang="fr-FR" sz="3200" dirty="0">
              <a:solidFill>
                <a:schemeClr val="bg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       </a:t>
            </a:r>
            <a:fld id="{D8F45C8D-B136-4221-8E6F-89170A60D72A}" type="slidenum">
              <a:rPr lang="fr-FR" sz="800" baseline="0" smtClean="0"/>
              <a:pPr>
                <a:defRPr/>
              </a:pPr>
              <a:t>5</a:t>
            </a:fld>
            <a:endParaRPr lang="fr-FR" sz="800" baseline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49"/>
          <p:cNvSpPr>
            <a:spLocks noGrp="1" noChangeArrowheads="1"/>
          </p:cNvSpPr>
          <p:nvPr>
            <p:ph type="title"/>
          </p:nvPr>
        </p:nvSpPr>
        <p:spPr>
          <a:xfrm>
            <a:off x="533400" y="493713"/>
            <a:ext cx="3751263" cy="414337"/>
          </a:xfrm>
          <a:noFill/>
        </p:spPr>
        <p:txBody>
          <a:bodyPr/>
          <a:lstStyle/>
          <a:p>
            <a:r>
              <a:rPr lang="ru-RU" sz="1800" dirty="0" smtClean="0"/>
              <a:t>Документация исследования</a:t>
            </a:r>
            <a:endParaRPr lang="fr-FR" sz="1800" dirty="0" smtClean="0">
              <a:solidFill>
                <a:schemeClr val="folHlink"/>
              </a:solidFill>
            </a:endParaRPr>
          </a:p>
        </p:txBody>
      </p:sp>
      <p:graphicFrame>
        <p:nvGraphicFramePr>
          <p:cNvPr id="3" name="Espace réservé du tableau 2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350446389"/>
              </p:ext>
            </p:extLst>
          </p:nvPr>
        </p:nvGraphicFramePr>
        <p:xfrm>
          <a:off x="1068995" y="1772816"/>
          <a:ext cx="6762970" cy="3149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5092"/>
                <a:gridCol w="1633939"/>
                <a:gridCol w="1633939"/>
              </a:tblGrid>
              <a:tr h="137157">
                <a:tc>
                  <a:txBody>
                    <a:bodyPr/>
                    <a:lstStyle/>
                    <a:p>
                      <a:r>
                        <a:rPr lang="uk-UA" sz="1600" noProof="0" dirty="0" smtClean="0"/>
                        <a:t>Документ</a:t>
                      </a:r>
                      <a:endParaRPr lang="en-US" sz="1600" noProof="0" dirty="0"/>
                    </a:p>
                  </a:txBody>
                  <a:tcPr marL="91436" marR="91436" marT="45729" marB="457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600" noProof="0" dirty="0" err="1" smtClean="0"/>
                        <a:t>Версия</a:t>
                      </a:r>
                      <a:endParaRPr lang="en-US" sz="1600" noProof="0" dirty="0"/>
                    </a:p>
                  </a:txBody>
                  <a:tcPr marL="91436" marR="91436" marT="45729" marB="457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600" noProof="0" dirty="0" err="1" smtClean="0"/>
                        <a:t>Количество</a:t>
                      </a:r>
                      <a:endParaRPr lang="en-US" sz="1600" noProof="0" dirty="0"/>
                    </a:p>
                  </a:txBody>
                  <a:tcPr marL="91436" marR="91436" marT="45729" marB="45729"/>
                </a:tc>
              </a:tr>
              <a:tr h="370916">
                <a:tc>
                  <a:txBody>
                    <a:bodyPr/>
                    <a:lstStyle/>
                    <a:p>
                      <a:r>
                        <a:rPr lang="ru-RU" sz="1400" noProof="0" dirty="0" smtClean="0"/>
                        <a:t>Протокол</a:t>
                      </a:r>
                      <a:endParaRPr lang="en-US" sz="1400" noProof="0" dirty="0"/>
                    </a:p>
                  </a:txBody>
                  <a:tcPr marL="91436" marR="91436" marT="45729" marB="457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 smtClean="0"/>
                        <a:t>V</a:t>
                      </a:r>
                      <a:r>
                        <a:rPr lang="ru-RU" sz="1400" noProof="0" dirty="0" smtClean="0"/>
                        <a:t>2</a:t>
                      </a:r>
                      <a:r>
                        <a:rPr lang="en-US" sz="1400" noProof="0" dirty="0" smtClean="0"/>
                        <a:t>.0</a:t>
                      </a:r>
                      <a:r>
                        <a:rPr lang="en-US" sz="1400" baseline="0" noProof="0" dirty="0" smtClean="0"/>
                        <a:t> </a:t>
                      </a:r>
                      <a:r>
                        <a:rPr lang="uk-UA" sz="1400" baseline="0" noProof="0" dirty="0" smtClean="0"/>
                        <a:t>15</a:t>
                      </a:r>
                      <a:r>
                        <a:rPr lang="en-US" sz="1400" baseline="0" noProof="0" dirty="0" smtClean="0"/>
                        <a:t> Dec</a:t>
                      </a:r>
                      <a:r>
                        <a:rPr lang="uk-UA" sz="1400" baseline="0" noProof="0" dirty="0" smtClean="0"/>
                        <a:t> </a:t>
                      </a:r>
                      <a:r>
                        <a:rPr lang="en-US" sz="1400" baseline="0" noProof="0" dirty="0" smtClean="0"/>
                        <a:t>1</a:t>
                      </a:r>
                      <a:r>
                        <a:rPr lang="ru-RU" sz="1400" baseline="0" noProof="0" dirty="0" smtClean="0"/>
                        <a:t>5</a:t>
                      </a:r>
                      <a:endParaRPr lang="en-US" sz="1400" noProof="0" dirty="0"/>
                    </a:p>
                  </a:txBody>
                  <a:tcPr marL="91436" marR="91436" marT="45729" marB="457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400" noProof="0" dirty="0" smtClean="0"/>
                        <a:t>1</a:t>
                      </a:r>
                      <a:endParaRPr lang="en-US" sz="1400" noProof="0" dirty="0"/>
                    </a:p>
                  </a:txBody>
                  <a:tcPr marL="91436" marR="91436" marT="45729" marB="45729"/>
                </a:tc>
              </a:tr>
              <a:tr h="518266">
                <a:tc>
                  <a:txBody>
                    <a:bodyPr/>
                    <a:lstStyle/>
                    <a:p>
                      <a:r>
                        <a:rPr lang="ru-RU" sz="1400" noProof="0" dirty="0" smtClean="0"/>
                        <a:t>Информированное</a:t>
                      </a:r>
                      <a:r>
                        <a:rPr lang="ru-RU" sz="1400" baseline="0" noProof="0" dirty="0" smtClean="0"/>
                        <a:t> согласие </a:t>
                      </a:r>
                      <a:endParaRPr lang="en-US" sz="1400" noProof="0" dirty="0"/>
                    </a:p>
                  </a:txBody>
                  <a:tcPr marL="91436" marR="91436" marT="45729" marB="457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 smtClean="0"/>
                        <a:t>V1.0 02</a:t>
                      </a:r>
                      <a:r>
                        <a:rPr lang="en-US" sz="1400" baseline="0" noProof="0" dirty="0" smtClean="0"/>
                        <a:t> Feb </a:t>
                      </a:r>
                      <a:r>
                        <a:rPr lang="en-US" sz="1400" noProof="0" dirty="0" smtClean="0"/>
                        <a:t>16</a:t>
                      </a:r>
                      <a:endParaRPr lang="en-US" sz="1400" noProof="0" dirty="0"/>
                    </a:p>
                  </a:txBody>
                  <a:tcPr marL="91436" marR="91436" marT="45729" marB="457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400" noProof="0" dirty="0" smtClean="0"/>
                        <a:t>3</a:t>
                      </a:r>
                      <a:r>
                        <a:rPr lang="en-US" sz="1400" noProof="0" dirty="0" smtClean="0"/>
                        <a:t>0</a:t>
                      </a:r>
                      <a:endParaRPr lang="en-US" sz="1400" noProof="0" dirty="0"/>
                    </a:p>
                  </a:txBody>
                  <a:tcPr marL="91436" marR="91436" marT="45729" marB="45729"/>
                </a:tc>
              </a:tr>
              <a:tr h="370916">
                <a:tc>
                  <a:txBody>
                    <a:bodyPr/>
                    <a:lstStyle/>
                    <a:p>
                      <a:r>
                        <a:rPr lang="ru-RU" sz="1400" noProof="0" dirty="0" smtClean="0"/>
                        <a:t>Индивидуальная</a:t>
                      </a:r>
                      <a:r>
                        <a:rPr lang="ru-RU" sz="1400" baseline="0" noProof="0" dirty="0" smtClean="0"/>
                        <a:t> регистрационная карта (</a:t>
                      </a:r>
                      <a:r>
                        <a:rPr lang="en-US" sz="1400" baseline="0" noProof="0" dirty="0" smtClean="0"/>
                        <a:t>CRF</a:t>
                      </a:r>
                      <a:r>
                        <a:rPr lang="ru-RU" sz="1400" baseline="0" noProof="0" dirty="0" smtClean="0"/>
                        <a:t>)</a:t>
                      </a:r>
                      <a:endParaRPr lang="en-US" sz="1400" noProof="0" dirty="0"/>
                    </a:p>
                  </a:txBody>
                  <a:tcPr marL="91436" marR="91436" marT="45729" marB="457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 smtClean="0"/>
                        <a:t>V1.0</a:t>
                      </a:r>
                      <a:r>
                        <a:rPr lang="en-US" sz="1400" baseline="0" noProof="0" dirty="0" smtClean="0"/>
                        <a:t> 14 Dec 15</a:t>
                      </a:r>
                      <a:endParaRPr lang="en-US" sz="1400" noProof="0" dirty="0"/>
                    </a:p>
                  </a:txBody>
                  <a:tcPr marL="91436" marR="91436" marT="45729" marB="457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 smtClean="0"/>
                        <a:t>15</a:t>
                      </a:r>
                      <a:endParaRPr lang="en-US" sz="1400" noProof="0" dirty="0"/>
                    </a:p>
                  </a:txBody>
                  <a:tcPr marL="91436" marR="91436" marT="45729" marB="45729"/>
                </a:tc>
              </a:tr>
              <a:tr h="370916">
                <a:tc>
                  <a:txBody>
                    <a:bodyPr/>
                    <a:lstStyle/>
                    <a:p>
                      <a:r>
                        <a:rPr lang="ru-RU" sz="1400" noProof="0" dirty="0" smtClean="0"/>
                        <a:t>Инструкция</a:t>
                      </a:r>
                      <a:r>
                        <a:rPr lang="ru-RU" sz="1400" baseline="0" noProof="0" dirty="0" smtClean="0"/>
                        <a:t> по заполнению ИРК (</a:t>
                      </a:r>
                      <a:r>
                        <a:rPr lang="en-US" sz="1400" noProof="0" dirty="0" smtClean="0"/>
                        <a:t>CRF Completion Guidelines</a:t>
                      </a:r>
                      <a:r>
                        <a:rPr lang="ru-RU" sz="1400" noProof="0" dirty="0" smtClean="0"/>
                        <a:t>)</a:t>
                      </a:r>
                      <a:endParaRPr lang="en-US" sz="1400" noProof="0" dirty="0"/>
                    </a:p>
                  </a:txBody>
                  <a:tcPr marL="91436" marR="91436" marT="45729" marB="457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 smtClean="0"/>
                        <a:t>V1.0</a:t>
                      </a:r>
                      <a:r>
                        <a:rPr lang="en-US" sz="1400" baseline="0" noProof="0" dirty="0" smtClean="0"/>
                        <a:t> 14 Dec 15</a:t>
                      </a:r>
                      <a:endParaRPr lang="en-US" sz="1400" noProof="0" dirty="0"/>
                    </a:p>
                  </a:txBody>
                  <a:tcPr marL="91436" marR="91436" marT="45729" marB="457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400" noProof="0" dirty="0" smtClean="0"/>
                        <a:t>1</a:t>
                      </a:r>
                      <a:endParaRPr lang="en-US" sz="1400" noProof="0" dirty="0"/>
                    </a:p>
                  </a:txBody>
                  <a:tcPr marL="91436" marR="91436" marT="45729" marB="45729"/>
                </a:tc>
              </a:tr>
              <a:tr h="370916">
                <a:tc>
                  <a:txBody>
                    <a:bodyPr/>
                    <a:lstStyle/>
                    <a:p>
                      <a:r>
                        <a:rPr lang="ru-RU" sz="1400" noProof="0" dirty="0" smtClean="0"/>
                        <a:t>Опросник</a:t>
                      </a:r>
                      <a:r>
                        <a:rPr lang="ru-RU" sz="1400" baseline="0" noProof="0" dirty="0" smtClean="0"/>
                        <a:t> врача (</a:t>
                      </a:r>
                      <a:r>
                        <a:rPr lang="en-US" sz="1400" noProof="0" dirty="0" smtClean="0"/>
                        <a:t>Physician Questionnaire</a:t>
                      </a:r>
                      <a:r>
                        <a:rPr lang="ru-RU" sz="1400" noProof="0" dirty="0" smtClean="0"/>
                        <a:t>)</a:t>
                      </a:r>
                      <a:endParaRPr lang="en-US" sz="1400" noProof="0" dirty="0"/>
                    </a:p>
                  </a:txBody>
                  <a:tcPr marL="91436" marR="91436" marT="45729" marB="457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 smtClean="0"/>
                        <a:t>V1.0 10 Dec</a:t>
                      </a:r>
                      <a:r>
                        <a:rPr lang="en-US" sz="1400" baseline="0" noProof="0" dirty="0" smtClean="0"/>
                        <a:t> </a:t>
                      </a:r>
                      <a:r>
                        <a:rPr lang="en-US" sz="1400" noProof="0" dirty="0" smtClean="0"/>
                        <a:t>15</a:t>
                      </a:r>
                      <a:endParaRPr lang="en-US" sz="1400" noProof="0" dirty="0"/>
                    </a:p>
                  </a:txBody>
                  <a:tcPr marL="91436" marR="91436" marT="45729" marB="457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400" noProof="0" dirty="0" smtClean="0"/>
                        <a:t>1</a:t>
                      </a:r>
                      <a:endParaRPr lang="en-US" sz="1400" noProof="0" dirty="0"/>
                    </a:p>
                  </a:txBody>
                  <a:tcPr marL="91436" marR="91436" marT="45729" marB="45729"/>
                </a:tc>
              </a:tr>
              <a:tr h="370916">
                <a:tc>
                  <a:txBody>
                    <a:bodyPr/>
                    <a:lstStyle/>
                    <a:p>
                      <a:endParaRPr lang="en-US" sz="1400" noProof="0" dirty="0"/>
                    </a:p>
                  </a:txBody>
                  <a:tcPr marL="91436" marR="91436" marT="45729" marB="45729"/>
                </a:tc>
                <a:tc>
                  <a:txBody>
                    <a:bodyPr/>
                    <a:lstStyle/>
                    <a:p>
                      <a:pPr algn="ctr"/>
                      <a:endParaRPr lang="en-US" sz="1400" noProof="0" dirty="0"/>
                    </a:p>
                  </a:txBody>
                  <a:tcPr marL="91436" marR="91436" marT="45729" marB="45729"/>
                </a:tc>
                <a:tc>
                  <a:txBody>
                    <a:bodyPr/>
                    <a:lstStyle/>
                    <a:p>
                      <a:pPr algn="ctr"/>
                      <a:endParaRPr lang="en-US" sz="1400" noProof="0" dirty="0"/>
                    </a:p>
                  </a:txBody>
                  <a:tcPr marL="91436" marR="91436" marT="45729" marB="45729"/>
                </a:tc>
              </a:tr>
            </a:tbl>
          </a:graphicData>
        </a:graphic>
      </p:graphicFrame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28058"/>
            <a:ext cx="2031399" cy="1090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       </a:t>
            </a:r>
            <a:fld id="{AFF258C9-0C1E-4BD4-A359-410CCDB68C05}" type="slidenum">
              <a:rPr lang="fr-FR" sz="800" baseline="0" smtClean="0"/>
              <a:pPr>
                <a:defRPr/>
              </a:pPr>
              <a:t>6</a:t>
            </a:fld>
            <a:endParaRPr lang="fr-FR" sz="800" baseline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Инициация центров</a:t>
            </a:r>
            <a:endParaRPr lang="en-US" dirty="0"/>
          </a:p>
        </p:txBody>
      </p:sp>
      <p:graphicFrame>
        <p:nvGraphicFramePr>
          <p:cNvPr id="5" name="Table Placeholder 4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3697231966"/>
              </p:ext>
            </p:extLst>
          </p:nvPr>
        </p:nvGraphicFramePr>
        <p:xfrm>
          <a:off x="107504" y="1556792"/>
          <a:ext cx="8784976" cy="443025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784976"/>
              </a:tblGrid>
              <a:tr h="4430256">
                <a:tc>
                  <a:txBody>
                    <a:bodyPr/>
                    <a:lstStyle/>
                    <a:p>
                      <a:r>
                        <a:rPr lang="ru-RU" sz="2000" b="1" u="sng" noProof="0" dirty="0" smtClean="0">
                          <a:solidFill>
                            <a:schemeClr val="tx1"/>
                          </a:solidFill>
                        </a:rPr>
                        <a:t>Осуществляется</a:t>
                      </a:r>
                      <a:r>
                        <a:rPr lang="ru-RU" sz="2000" b="1" u="sng" baseline="0" noProof="0" dirty="0" smtClean="0">
                          <a:solidFill>
                            <a:schemeClr val="tx1"/>
                          </a:solidFill>
                        </a:rPr>
                        <a:t> только </a:t>
                      </a:r>
                      <a:r>
                        <a:rPr lang="ru-RU" sz="2000" b="1" u="sng" baseline="0" noProof="0" dirty="0" smtClean="0">
                          <a:solidFill>
                            <a:schemeClr val="tx1"/>
                          </a:solidFill>
                        </a:rPr>
                        <a:t>после </a:t>
                      </a:r>
                      <a:r>
                        <a:rPr lang="ru-RU" sz="2000" b="1" u="sng" baseline="0" noProof="0" dirty="0" smtClean="0">
                          <a:solidFill>
                            <a:schemeClr val="tx1"/>
                          </a:solidFill>
                        </a:rPr>
                        <a:t>наличия следующих документов:</a:t>
                      </a:r>
                      <a:endParaRPr lang="ru-RU" sz="2000" u="sng" noProof="0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ru-RU" noProof="0" dirty="0" smtClean="0"/>
                    </a:p>
                    <a:p>
                      <a:pPr marL="857250" lvl="1" indent="-457200">
                        <a:lnSpc>
                          <a:spcPct val="150000"/>
                        </a:lnSpc>
                        <a:buAutoNum type="arabicParenR"/>
                      </a:pPr>
                      <a:r>
                        <a:rPr lang="ru-RU" sz="1800" b="1" noProof="0" dirty="0" smtClean="0">
                          <a:solidFill>
                            <a:schemeClr val="accent4"/>
                          </a:solidFill>
                        </a:rPr>
                        <a:t>Подписанного договора с исследователем;</a:t>
                      </a:r>
                    </a:p>
                    <a:p>
                      <a:pPr marL="857250" lvl="1" indent="-457200">
                        <a:lnSpc>
                          <a:spcPct val="150000"/>
                        </a:lnSpc>
                        <a:buAutoNum type="arabicParenR"/>
                      </a:pPr>
                      <a:r>
                        <a:rPr lang="ru-RU" sz="1800" b="1" noProof="0" dirty="0" smtClean="0">
                          <a:solidFill>
                            <a:schemeClr val="accent4"/>
                          </a:solidFill>
                        </a:rPr>
                        <a:t>Одобрения Локальной Этической Комиссией проведения исследования на базе медицинского учреждения</a:t>
                      </a:r>
                    </a:p>
                    <a:p>
                      <a:pPr marL="400050" lvl="1" indent="0">
                        <a:lnSpc>
                          <a:spcPct val="150000"/>
                        </a:lnSpc>
                        <a:buNone/>
                      </a:pPr>
                      <a:r>
                        <a:rPr lang="ru-RU" sz="1800" b="1" noProof="0" dirty="0" smtClean="0">
                          <a:solidFill>
                            <a:schemeClr val="accent4"/>
                          </a:solidFill>
                        </a:rPr>
                        <a:t>3) Заполненного опросника врача </a:t>
                      </a:r>
                      <a:r>
                        <a:rPr lang="uk-UA" sz="1800" b="1" dirty="0" smtClean="0">
                          <a:solidFill>
                            <a:schemeClr val="accent4"/>
                          </a:solidFill>
                        </a:rPr>
                        <a:t>(</a:t>
                      </a:r>
                      <a:r>
                        <a:rPr lang="en-US" sz="1800" b="1" dirty="0" smtClean="0">
                          <a:solidFill>
                            <a:schemeClr val="accent4"/>
                          </a:solidFill>
                        </a:rPr>
                        <a:t>Physician Questionnaire</a:t>
                      </a:r>
                      <a:r>
                        <a:rPr lang="ru-RU" sz="1800" b="1" dirty="0" smtClean="0">
                          <a:solidFill>
                            <a:schemeClr val="accent4"/>
                          </a:solidFill>
                        </a:rPr>
                        <a:t>)</a:t>
                      </a:r>
                      <a:endParaRPr lang="en-US" sz="1800" b="1" dirty="0" smtClean="0">
                        <a:solidFill>
                          <a:schemeClr val="accent4"/>
                        </a:solidFill>
                      </a:endParaRPr>
                    </a:p>
                    <a:p>
                      <a:endParaRPr lang="ru-RU" dirty="0" smtClean="0"/>
                    </a:p>
                    <a:p>
                      <a:r>
                        <a:rPr lang="ru-RU" sz="2000" u="sng" dirty="0" smtClean="0">
                          <a:solidFill>
                            <a:schemeClr val="tx1"/>
                          </a:solidFill>
                        </a:rPr>
                        <a:t>Пути</a:t>
                      </a:r>
                      <a:r>
                        <a:rPr lang="ru-RU" sz="2000" u="sng" baseline="0" dirty="0" smtClean="0">
                          <a:solidFill>
                            <a:schemeClr val="tx1"/>
                          </a:solidFill>
                        </a:rPr>
                        <a:t> инициации:</a:t>
                      </a:r>
                    </a:p>
                    <a:p>
                      <a:endParaRPr lang="ru-RU" sz="2000" u="sng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Телефонный контакт с врачом-исследователем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ru-RU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Конференция исследователей</a:t>
                      </a:r>
                      <a:endParaRPr lang="ru-RU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       </a:t>
            </a:r>
            <a:fld id="{AFF258C9-0C1E-4BD4-A359-410CCDB68C05}" type="slidenum">
              <a:rPr lang="fr-FR" sz="800" baseline="0" smtClean="0"/>
              <a:pPr>
                <a:defRPr/>
              </a:pPr>
              <a:t>7</a:t>
            </a:fld>
            <a:endParaRPr lang="fr-FR" sz="800" baseline="0"/>
          </a:p>
        </p:txBody>
      </p:sp>
    </p:spTree>
    <p:extLst>
      <p:ext uri="{BB962C8B-B14F-4D97-AF65-F5344CB8AC3E}">
        <p14:creationId xmlns:p14="http://schemas.microsoft.com/office/powerpoint/2010/main" val="1254909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z="2400" b="1" u="sng" dirty="0" err="1">
                <a:solidFill>
                  <a:schemeClr val="accent4"/>
                </a:solidFill>
              </a:rPr>
              <a:t>Информированное</a:t>
            </a:r>
            <a:r>
              <a:rPr lang="uk-UA" sz="2400" b="1" u="sng" dirty="0">
                <a:solidFill>
                  <a:schemeClr val="accent4"/>
                </a:solidFill>
              </a:rPr>
              <a:t> </a:t>
            </a:r>
            <a:r>
              <a:rPr lang="uk-UA" sz="2400" b="1" u="sng" dirty="0" err="1">
                <a:solidFill>
                  <a:schemeClr val="accent4"/>
                </a:solidFill>
              </a:rPr>
              <a:t>согласие</a:t>
            </a:r>
            <a:r>
              <a:rPr lang="uk-UA" sz="2400" b="1" u="sng" dirty="0">
                <a:solidFill>
                  <a:schemeClr val="accent4"/>
                </a:solidFill>
              </a:rPr>
              <a:t> -  </a:t>
            </a:r>
            <a:r>
              <a:rPr lang="uk-UA" sz="2400" b="1" u="sng" dirty="0">
                <a:solidFill>
                  <a:srgbClr val="FF0000"/>
                </a:solidFill>
              </a:rPr>
              <a:t>ВАЖНО!!!</a:t>
            </a:r>
            <a:endParaRPr lang="en-US" sz="2400" dirty="0"/>
          </a:p>
        </p:txBody>
      </p:sp>
      <p:graphicFrame>
        <p:nvGraphicFramePr>
          <p:cNvPr id="5" name="Table Placeholder 4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3978175591"/>
              </p:ext>
            </p:extLst>
          </p:nvPr>
        </p:nvGraphicFramePr>
        <p:xfrm>
          <a:off x="179388" y="1052736"/>
          <a:ext cx="8599487" cy="52730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599487"/>
              </a:tblGrid>
              <a:tr h="5256584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ru-RU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44449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Дата визита и дата подписания информированного согласия должны совпадать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ru-RU" sz="2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444492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ru-RU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44449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Один экземпляр информированного согласия выдается пациенту на руки, другой остается в центре.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kumimoji="0" lang="ru-RU" sz="2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444492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ru-RU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44449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В первично документации необходимо указывать следующую информацию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ru-RU" sz="1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444492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ru-RU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Пациенту предложили участие в клиническом исследовании IDMPS Wave7. Пациент походит по критериям включения, критериев исключения нет. Пациенту выдали информированное согласие версия 1.0 от 02.02.2016 на украинском (русском) языке для ознакомления. У пациента было достаточно времени для ознакомления с ИС, он (она) задал интересующие его вопросы. Пациент подписал ИС в двух экземплярах датой …., один экземпляр выдан пациенту на руки. Пациент одинаково хорошо владеет украинским и русским языками</a:t>
                      </a:r>
                      <a:r>
                        <a:rPr kumimoji="0" lang="ru-RU" sz="18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44449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kumimoji="0" lang="uk-UA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444492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       </a:t>
            </a:r>
            <a:fld id="{AFF258C9-0C1E-4BD4-A359-410CCDB68C05}" type="slidenum">
              <a:rPr lang="fr-FR" sz="800" baseline="0" smtClean="0"/>
              <a:pPr>
                <a:defRPr/>
              </a:pPr>
              <a:t>8</a:t>
            </a:fld>
            <a:endParaRPr lang="fr-FR" sz="800" baseline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28058"/>
            <a:ext cx="2031399" cy="1090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09003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z="2400" b="1" u="sng" dirty="0" err="1" smtClean="0">
                <a:solidFill>
                  <a:schemeClr val="accent4"/>
                </a:solidFill>
              </a:rPr>
              <a:t>Информированное</a:t>
            </a:r>
            <a:r>
              <a:rPr lang="uk-UA" sz="2400" b="1" u="sng" dirty="0" smtClean="0">
                <a:solidFill>
                  <a:schemeClr val="accent4"/>
                </a:solidFill>
              </a:rPr>
              <a:t> </a:t>
            </a:r>
            <a:r>
              <a:rPr lang="uk-UA" sz="2400" b="1" u="sng" dirty="0" err="1">
                <a:solidFill>
                  <a:schemeClr val="accent4"/>
                </a:solidFill>
              </a:rPr>
              <a:t>согласие</a:t>
            </a:r>
            <a:r>
              <a:rPr lang="uk-UA" sz="2400" b="1" u="sng" dirty="0">
                <a:solidFill>
                  <a:schemeClr val="accent4"/>
                </a:solidFill>
              </a:rPr>
              <a:t> -  </a:t>
            </a:r>
            <a:r>
              <a:rPr lang="uk-UA" sz="2400" b="1" u="sng" dirty="0">
                <a:solidFill>
                  <a:srgbClr val="FF0000"/>
                </a:solidFill>
              </a:rPr>
              <a:t>ВАЖНО!!!</a:t>
            </a:r>
            <a:r>
              <a:rPr lang="en-US" sz="4000" b="1" u="sng" dirty="0">
                <a:solidFill>
                  <a:srgbClr val="FF0000"/>
                </a:solidFill>
              </a:rPr>
              <a:t/>
            </a:r>
            <a:br>
              <a:rPr lang="en-US" sz="4000" b="1" u="sng" dirty="0">
                <a:solidFill>
                  <a:srgbClr val="FF0000"/>
                </a:solidFill>
              </a:rPr>
            </a:br>
            <a:endParaRPr lang="en-US" dirty="0"/>
          </a:p>
        </p:txBody>
      </p:sp>
      <p:graphicFrame>
        <p:nvGraphicFramePr>
          <p:cNvPr id="5" name="Table Placeholder 4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665733992"/>
              </p:ext>
            </p:extLst>
          </p:nvPr>
        </p:nvGraphicFramePr>
        <p:xfrm>
          <a:off x="179388" y="1341438"/>
          <a:ext cx="8599487" cy="467985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599487"/>
              </a:tblGrid>
              <a:tr h="467985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       </a:t>
            </a:r>
            <a:fld id="{AFF258C9-0C1E-4BD4-A359-410CCDB68C05}" type="slidenum">
              <a:rPr lang="fr-FR" sz="800" baseline="0" smtClean="0"/>
              <a:pPr>
                <a:defRPr/>
              </a:pPr>
              <a:t>9</a:t>
            </a:fld>
            <a:endParaRPr lang="fr-FR" sz="800" baseline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28058"/>
            <a:ext cx="2031399" cy="1090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118077"/>
            <a:ext cx="2880320" cy="5256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1431223"/>
            <a:ext cx="2952328" cy="4630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1431223"/>
            <a:ext cx="2635001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ight Arrow 9"/>
          <p:cNvSpPr/>
          <p:nvPr/>
        </p:nvSpPr>
        <p:spPr>
          <a:xfrm flipH="1" flipV="1">
            <a:off x="1907704" y="4437111"/>
            <a:ext cx="936104" cy="288032"/>
          </a:xfrm>
          <a:prstGeom prst="rightArrow">
            <a:avLst>
              <a:gd name="adj1" fmla="val 50000"/>
              <a:gd name="adj2" fmla="val 138050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/>
          <p:cNvSpPr/>
          <p:nvPr/>
        </p:nvSpPr>
        <p:spPr>
          <a:xfrm flipH="1" flipV="1">
            <a:off x="2073660" y="5562791"/>
            <a:ext cx="936104" cy="288032"/>
          </a:xfrm>
          <a:prstGeom prst="rightArrow">
            <a:avLst>
              <a:gd name="adj1" fmla="val 50000"/>
              <a:gd name="adj2" fmla="val 138050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/>
          <p:cNvSpPr/>
          <p:nvPr/>
        </p:nvSpPr>
        <p:spPr>
          <a:xfrm flipH="1" flipV="1">
            <a:off x="4680012" y="4877543"/>
            <a:ext cx="936104" cy="288032"/>
          </a:xfrm>
          <a:prstGeom prst="rightArrow">
            <a:avLst>
              <a:gd name="adj1" fmla="val 50000"/>
              <a:gd name="adj2" fmla="val 138050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Arrow 14"/>
          <p:cNvSpPr/>
          <p:nvPr/>
        </p:nvSpPr>
        <p:spPr>
          <a:xfrm flipH="1" flipV="1">
            <a:off x="7624156" y="3140968"/>
            <a:ext cx="936104" cy="288032"/>
          </a:xfrm>
          <a:prstGeom prst="rightArrow">
            <a:avLst>
              <a:gd name="adj1" fmla="val 50000"/>
              <a:gd name="adj2" fmla="val 138050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Arrow 15"/>
          <p:cNvSpPr/>
          <p:nvPr/>
        </p:nvSpPr>
        <p:spPr>
          <a:xfrm flipH="1" flipV="1">
            <a:off x="7745844" y="3776849"/>
            <a:ext cx="936104" cy="288032"/>
          </a:xfrm>
          <a:prstGeom prst="rightArrow">
            <a:avLst>
              <a:gd name="adj1" fmla="val 50000"/>
              <a:gd name="adj2" fmla="val 138050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6593716" y="4498339"/>
            <a:ext cx="2088232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uk-UA" sz="1400" b="1" dirty="0" smtClean="0">
              <a:solidFill>
                <a:srgbClr val="FF0000"/>
              </a:solidFill>
            </a:endParaRPr>
          </a:p>
          <a:p>
            <a:r>
              <a:rPr lang="uk-UA" sz="1400" b="1" dirty="0" smtClean="0">
                <a:solidFill>
                  <a:srgbClr val="FF0000"/>
                </a:solidFill>
              </a:rPr>
              <a:t>НЕ ЗАПОЛНЯТЬ</a:t>
            </a:r>
            <a:endParaRPr 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598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z="2400" b="1" u="sng" dirty="0" err="1" smtClean="0">
                <a:solidFill>
                  <a:schemeClr val="accent4"/>
                </a:solidFill>
              </a:rPr>
              <a:t>Первичная</a:t>
            </a:r>
            <a:r>
              <a:rPr lang="uk-UA" sz="2400" b="1" u="sng" dirty="0" smtClean="0">
                <a:solidFill>
                  <a:schemeClr val="accent4"/>
                </a:solidFill>
              </a:rPr>
              <a:t> </a:t>
            </a:r>
            <a:r>
              <a:rPr lang="uk-UA" sz="2400" b="1" u="sng" dirty="0" err="1" smtClean="0">
                <a:solidFill>
                  <a:schemeClr val="accent4"/>
                </a:solidFill>
              </a:rPr>
              <a:t>документация</a:t>
            </a:r>
            <a:endParaRPr lang="en-US" sz="2400" dirty="0"/>
          </a:p>
        </p:txBody>
      </p:sp>
      <p:graphicFrame>
        <p:nvGraphicFramePr>
          <p:cNvPr id="6" name="Table Placeholder 5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611472419"/>
              </p:ext>
            </p:extLst>
          </p:nvPr>
        </p:nvGraphicFramePr>
        <p:xfrm>
          <a:off x="179388" y="1341438"/>
          <a:ext cx="8599487" cy="49682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599487"/>
              </a:tblGrid>
              <a:tr h="4895874"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Ø"/>
                      </a:pPr>
                      <a:r>
                        <a:rPr lang="ru-RU" sz="2000" dirty="0" smtClean="0">
                          <a:solidFill>
                            <a:schemeClr val="tx1"/>
                          </a:solidFill>
                        </a:rPr>
                        <a:t>Основная</a:t>
                      </a:r>
                      <a:r>
                        <a:rPr lang="ru-RU" sz="2000" baseline="0" dirty="0" smtClean="0">
                          <a:solidFill>
                            <a:schemeClr val="tx1"/>
                          </a:solidFill>
                        </a:rPr>
                        <a:t> первичная документация: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000" i="0" dirty="0" smtClean="0">
                          <a:solidFill>
                            <a:schemeClr val="tx1"/>
                          </a:solidFill>
                        </a:rPr>
                        <a:t>Информированное согласия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000" i="0" dirty="0" smtClean="0">
                          <a:solidFill>
                            <a:schemeClr val="tx1"/>
                          </a:solidFill>
                        </a:rPr>
                        <a:t>Копия выписки с подтвержденным диагнозом</a:t>
                      </a:r>
                      <a:r>
                        <a:rPr lang="ru-RU" sz="2000" i="0" baseline="0" dirty="0" smtClean="0">
                          <a:solidFill>
                            <a:schemeClr val="tx1"/>
                          </a:solidFill>
                        </a:rPr>
                        <a:t> сахарного диабета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ru-RU" sz="2000" i="0" baseline="0" dirty="0" smtClean="0">
                          <a:solidFill>
                            <a:schemeClr val="tx1"/>
                          </a:solidFill>
                        </a:rPr>
                        <a:t>Амбулаторная карточка больного или история болезни</a:t>
                      </a:r>
                      <a:endParaRPr lang="ru-RU" sz="20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ru-RU" sz="20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ru-RU" sz="2000" dirty="0" smtClean="0">
                          <a:solidFill>
                            <a:schemeClr val="tx1"/>
                          </a:solidFill>
                        </a:rPr>
                        <a:t>Хранится в</a:t>
                      </a:r>
                      <a:r>
                        <a:rPr lang="ru-RU" sz="2000" baseline="0" dirty="0" smtClean="0">
                          <a:solidFill>
                            <a:schemeClr val="tx1"/>
                          </a:solidFill>
                        </a:rPr>
                        <a:t> медицинском учреждении;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endParaRPr lang="ru-RU" sz="2000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ru-RU" sz="2000" baseline="0" dirty="0" smtClean="0">
                          <a:solidFill>
                            <a:schemeClr val="tx1"/>
                          </a:solidFill>
                        </a:rPr>
                        <a:t>Предоставляется на визите монитору или другим проверяющим органам, которые заявлены Спонсором;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endParaRPr lang="ru-RU" sz="2000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ru-RU" sz="2000" baseline="0" dirty="0" smtClean="0">
                          <a:solidFill>
                            <a:schemeClr val="tx1"/>
                          </a:solidFill>
                        </a:rPr>
                        <a:t>Все данные должны быть идентичны внесенной информации в ИРК (</a:t>
                      </a: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</a:rPr>
                        <a:t>CRF</a:t>
                      </a:r>
                      <a:r>
                        <a:rPr lang="ru-RU" sz="2000" baseline="0" dirty="0" smtClean="0">
                          <a:solidFill>
                            <a:schemeClr val="tx1"/>
                          </a:solidFill>
                        </a:rPr>
                        <a:t>) и должны отображаться в амбулаторной карточке больного или в истории болезни</a:t>
                      </a: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ru-RU" sz="2000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endParaRPr lang="ru-RU" sz="2000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Font typeface="+mj-lt"/>
                        <a:buNone/>
                      </a:pP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       </a:t>
            </a:r>
            <a:fld id="{AFF258C9-0C1E-4BD4-A359-410CCDB68C05}" type="slidenum">
              <a:rPr lang="fr-FR" sz="800" baseline="0" smtClean="0"/>
              <a:pPr>
                <a:defRPr/>
              </a:pPr>
              <a:t>10</a:t>
            </a:fld>
            <a:endParaRPr lang="fr-FR" sz="800" baseline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28058"/>
            <a:ext cx="2031399" cy="1090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6983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476250"/>
            <a:ext cx="6264275" cy="504825"/>
          </a:xfrm>
        </p:spPr>
        <p:txBody>
          <a:bodyPr/>
          <a:lstStyle/>
          <a:p>
            <a:r>
              <a:rPr lang="en-US" sz="2800" dirty="0" smtClean="0"/>
              <a:t>CRF – </a:t>
            </a:r>
            <a:r>
              <a:rPr lang="ru-RU" sz="2800" dirty="0" smtClean="0"/>
              <a:t>Инструкция по заполнению</a:t>
            </a:r>
            <a:r>
              <a:rPr lang="en-US" sz="2800" dirty="0" smtClean="0"/>
              <a:t>   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67544" y="1484784"/>
            <a:ext cx="8136706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ru-RU" dirty="0" smtClean="0"/>
              <a:t>Формы заполняются БОЛЬШИМИ ПЕЧАТНЫМИ БУКВАМИ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ru-RU" dirty="0" smtClean="0"/>
              <a:t>Исправление ошибок:</a:t>
            </a:r>
          </a:p>
          <a:p>
            <a:pPr marL="622300" indent="-285750">
              <a:buFont typeface="Wingdings" pitchFamily="2" charset="2"/>
              <a:buChar char="v"/>
            </a:pPr>
            <a:r>
              <a:rPr lang="ru-RU" dirty="0" smtClean="0"/>
              <a:t>Зачеркиваем неверную информацию одной горизонтальной, </a:t>
            </a:r>
          </a:p>
          <a:p>
            <a:pPr marL="622300" indent="-285750">
              <a:buFont typeface="Wingdings" pitchFamily="2" charset="2"/>
              <a:buChar char="v"/>
            </a:pPr>
            <a:r>
              <a:rPr lang="ru-RU" dirty="0" smtClean="0"/>
              <a:t>Сверху вписываем правильную информацию,</a:t>
            </a:r>
          </a:p>
          <a:p>
            <a:pPr marL="622300" indent="-285750">
              <a:buFont typeface="Wingdings" pitchFamily="2" charset="2"/>
              <a:buChar char="v"/>
            </a:pPr>
            <a:r>
              <a:rPr lang="ru-RU" dirty="0" smtClean="0"/>
              <a:t>Дата, инициалы, подпись</a:t>
            </a:r>
          </a:p>
          <a:p>
            <a:pPr marL="622300" indent="-285750">
              <a:buFont typeface="Wingdings" pitchFamily="2" charset="2"/>
              <a:buChar char="v"/>
            </a:pPr>
            <a:r>
              <a:rPr lang="ru-RU" dirty="0" smtClean="0">
                <a:solidFill>
                  <a:srgbClr val="FF0000"/>
                </a:solidFill>
              </a:rPr>
              <a:t>Нельзя использовать корректор!</a:t>
            </a:r>
          </a:p>
          <a:p>
            <a:pPr marL="622300" indent="-285750">
              <a:buFont typeface="Wingdings" pitchFamily="2" charset="2"/>
              <a:buChar char="v"/>
            </a:pPr>
            <a:endParaRPr lang="ru-RU" dirty="0" smtClean="0">
              <a:solidFill>
                <a:srgbClr val="FF0000"/>
              </a:solidFill>
            </a:endParaRPr>
          </a:p>
          <a:p>
            <a:pPr marL="285750" indent="-285750">
              <a:buFont typeface="Wingdings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itchFamily="2" charset="2"/>
              <a:buChar char="q"/>
            </a:pPr>
            <a:r>
              <a:rPr lang="ru-RU" dirty="0" smtClean="0"/>
              <a:t>Пример заполнения полей:</a:t>
            </a:r>
          </a:p>
          <a:p>
            <a:pPr marL="285750" indent="-285750">
              <a:buFont typeface="Wingdings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itchFamily="2" charset="2"/>
              <a:buChar char="q"/>
            </a:pPr>
            <a:endParaRPr lang="ru-RU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28058"/>
            <a:ext cx="2031399" cy="1090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5431" y="3008278"/>
            <a:ext cx="5286375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1575" y="3837876"/>
            <a:ext cx="6162675" cy="89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       </a:t>
            </a:r>
            <a:fld id="{70E255F7-B1E1-4C31-A36F-E955EFB13278}" type="slidenum">
              <a:rPr lang="fr-FR" sz="800" baseline="0" smtClean="0"/>
              <a:pPr>
                <a:defRPr/>
              </a:pPr>
              <a:t>11</a:t>
            </a:fld>
            <a:endParaRPr lang="fr-FR" sz="800" baseline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476250"/>
            <a:ext cx="6264275" cy="504825"/>
          </a:xfrm>
        </p:spPr>
        <p:txBody>
          <a:bodyPr/>
          <a:lstStyle/>
          <a:p>
            <a:r>
              <a:rPr lang="en-US" sz="2800" dirty="0" smtClean="0"/>
              <a:t>CRF – </a:t>
            </a:r>
            <a:r>
              <a:rPr lang="ru-RU" sz="2800" dirty="0"/>
              <a:t>Инструкция по заполнению</a:t>
            </a:r>
            <a:r>
              <a:rPr lang="en-US" sz="2800" dirty="0"/>
              <a:t> </a:t>
            </a:r>
            <a:endParaRPr lang="en-US" sz="2800" dirty="0" smtClean="0"/>
          </a:p>
        </p:txBody>
      </p:sp>
      <p:pic>
        <p:nvPicPr>
          <p:cNvPr id="2765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46"/>
          <a:stretch/>
        </p:blipFill>
        <p:spPr bwMode="auto">
          <a:xfrm>
            <a:off x="1240312" y="1196752"/>
            <a:ext cx="6571775" cy="4752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28058"/>
            <a:ext cx="2031399" cy="1090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       </a:t>
            </a:r>
            <a:fld id="{70E255F7-B1E1-4C31-A36F-E955EFB13278}" type="slidenum">
              <a:rPr lang="fr-FR" sz="800" baseline="0" smtClean="0"/>
              <a:pPr>
                <a:defRPr/>
              </a:pPr>
              <a:t>12</a:t>
            </a:fld>
            <a:endParaRPr lang="fr-FR" sz="800" baseline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CRF – </a:t>
            </a:r>
            <a:r>
              <a:rPr lang="ru-RU" sz="2800" dirty="0"/>
              <a:t>Инструкция по заполнению</a:t>
            </a:r>
            <a:r>
              <a:rPr lang="en-US" sz="2800" dirty="0"/>
              <a:t> </a:t>
            </a:r>
          </a:p>
        </p:txBody>
      </p:sp>
      <p:graphicFrame>
        <p:nvGraphicFramePr>
          <p:cNvPr id="5" name="Table Placeholder 4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657500695"/>
              </p:ext>
            </p:extLst>
          </p:nvPr>
        </p:nvGraphicFramePr>
        <p:xfrm>
          <a:off x="179388" y="1341438"/>
          <a:ext cx="8599487" cy="467985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599487"/>
              </a:tblGrid>
              <a:tr h="4679850"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Необходимо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правильно заполнять верхний колонтитул</a:t>
                      </a:r>
                    </a:p>
                    <a:p>
                      <a:endParaRPr lang="ru-RU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ru-RU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ru-RU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ru-RU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ru-RU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ru-RU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ru-RU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pPr eaLnBrk="1" hangingPunct="1"/>
                      <a:r>
                        <a:rPr lang="en-US" sz="1800" dirty="0" smtClean="0">
                          <a:solidFill>
                            <a:srgbClr val="C00000"/>
                          </a:solidFill>
                        </a:rPr>
                        <a:t>Country number</a:t>
                      </a:r>
                      <a:r>
                        <a:rPr lang="ru-RU" sz="1800" dirty="0" smtClean="0">
                          <a:solidFill>
                            <a:srgbClr val="C00000"/>
                          </a:solidFill>
                        </a:rPr>
                        <a:t>: </a:t>
                      </a:r>
                      <a:r>
                        <a:rPr lang="ru-RU" sz="1800" b="0" dirty="0" smtClean="0">
                          <a:solidFill>
                            <a:schemeClr val="tx1"/>
                          </a:solidFill>
                        </a:rPr>
                        <a:t>код страны</a:t>
                      </a:r>
                      <a:r>
                        <a:rPr lang="ru-RU" sz="1800" b="0" baseline="0" dirty="0" smtClean="0">
                          <a:solidFill>
                            <a:schemeClr val="tx1"/>
                          </a:solidFill>
                        </a:rPr>
                        <a:t> для всех один - </a:t>
                      </a:r>
                      <a:r>
                        <a:rPr lang="ru-RU" sz="1800" b="0" baseline="0" dirty="0" smtClean="0">
                          <a:solidFill>
                            <a:srgbClr val="FF0000"/>
                          </a:solidFill>
                        </a:rPr>
                        <a:t>804</a:t>
                      </a:r>
                      <a:r>
                        <a:rPr lang="en-US" sz="1800" b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1800" b="0" dirty="0" smtClean="0"/>
                        <a:t>3</a:t>
                      </a:r>
                      <a:r>
                        <a:rPr lang="uk-UA" sz="1800" b="0" dirty="0" smtClean="0"/>
                        <a:t> </a:t>
                      </a:r>
                      <a:r>
                        <a:rPr lang="uk-UA" sz="1800" dirty="0" smtClean="0"/>
                        <a:t>цифри</a:t>
                      </a:r>
                      <a:r>
                        <a:rPr lang="en-US" sz="1800" dirty="0" smtClean="0"/>
                        <a:t> ISO </a:t>
                      </a:r>
                      <a:r>
                        <a:rPr lang="uk-UA" sz="1800" dirty="0" smtClean="0"/>
                        <a:t>код країни</a:t>
                      </a:r>
                      <a:r>
                        <a:rPr lang="en-US" sz="1800" dirty="0" smtClean="0"/>
                        <a:t> </a:t>
                      </a:r>
                      <a:endParaRPr lang="ru-RU" sz="1800" dirty="0" smtClean="0"/>
                    </a:p>
                    <a:p>
                      <a:pPr eaLnBrk="1" hangingPunct="1"/>
                      <a:r>
                        <a:rPr lang="en-US" sz="1800" dirty="0" smtClean="0">
                          <a:solidFill>
                            <a:srgbClr val="C00000"/>
                          </a:solidFill>
                        </a:rPr>
                        <a:t>Center number</a:t>
                      </a:r>
                      <a:r>
                        <a:rPr lang="ru-RU" sz="1800" dirty="0" smtClean="0">
                          <a:solidFill>
                            <a:srgbClr val="C00000"/>
                          </a:solidFill>
                        </a:rPr>
                        <a:t>: </a:t>
                      </a:r>
                      <a:r>
                        <a:rPr lang="ru-RU" sz="1800" b="0" dirty="0" smtClean="0">
                          <a:solidFill>
                            <a:schemeClr val="tx1"/>
                          </a:solidFill>
                        </a:rPr>
                        <a:t>3 цифры номер</a:t>
                      </a:r>
                      <a:r>
                        <a:rPr lang="ru-RU" sz="1800" b="0" baseline="0" dirty="0" smtClean="0">
                          <a:solidFill>
                            <a:schemeClr val="tx1"/>
                          </a:solidFill>
                        </a:rPr>
                        <a:t> центра. Каждому центру был сообщен его порядковый номер</a:t>
                      </a:r>
                    </a:p>
                    <a:p>
                      <a:pPr eaLnBrk="1" hangingPunct="1"/>
                      <a:r>
                        <a:rPr lang="en-US" sz="1800" dirty="0" smtClean="0">
                          <a:solidFill>
                            <a:srgbClr val="C00000"/>
                          </a:solidFill>
                        </a:rPr>
                        <a:t>Patient number</a:t>
                      </a:r>
                      <a:r>
                        <a:rPr lang="ru-RU" sz="1800" dirty="0" smtClean="0">
                          <a:solidFill>
                            <a:srgbClr val="C00000"/>
                          </a:solidFill>
                        </a:rPr>
                        <a:t>:</a:t>
                      </a:r>
                      <a:r>
                        <a:rPr lang="ru-RU" sz="1800" baseline="0" dirty="0" smtClean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ru-RU" sz="1800" b="0" baseline="0" dirty="0" smtClean="0">
                          <a:solidFill>
                            <a:schemeClr val="tx1"/>
                          </a:solidFill>
                        </a:rPr>
                        <a:t>3 цифры номер пациента, начиная с 001</a:t>
                      </a:r>
                      <a:r>
                        <a:rPr lang="en-US" sz="1800" b="0" dirty="0" smtClean="0"/>
                        <a:t>: </a:t>
                      </a:r>
                      <a:r>
                        <a:rPr lang="en-US" sz="1800" dirty="0" smtClean="0"/>
                        <a:t>3</a:t>
                      </a:r>
                      <a:r>
                        <a:rPr lang="uk-UA" sz="1800" dirty="0" smtClean="0"/>
                        <a:t> цифри номер пацієнта, починаючи з 001.</a:t>
                      </a:r>
                      <a:endParaRPr lang="en-US" sz="1800" dirty="0" smtClean="0"/>
                    </a:p>
                    <a:p>
                      <a:pPr algn="ctr"/>
                      <a:r>
                        <a:rPr lang="en-US" i="1" u="sng" dirty="0" smtClean="0">
                          <a:solidFill>
                            <a:schemeClr val="tx1"/>
                          </a:solidFill>
                        </a:rPr>
                        <a:t>CRF </a:t>
                      </a:r>
                      <a:r>
                        <a:rPr lang="ru-RU" i="1" u="sng" dirty="0" smtClean="0">
                          <a:solidFill>
                            <a:schemeClr val="tx1"/>
                          </a:solidFill>
                        </a:rPr>
                        <a:t>необходимо заполнять в день визита пациента</a:t>
                      </a:r>
                      <a:endParaRPr lang="en-US" i="1" u="sn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       </a:t>
            </a:r>
            <a:fld id="{AFF258C9-0C1E-4BD4-A359-410CCDB68C05}" type="slidenum">
              <a:rPr lang="fr-FR" sz="800" baseline="0" smtClean="0"/>
              <a:pPr>
                <a:defRPr/>
              </a:pPr>
              <a:t>13</a:t>
            </a:fld>
            <a:endParaRPr lang="fr-FR" sz="800" baseline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28058"/>
            <a:ext cx="2031399" cy="1090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44824"/>
            <a:ext cx="9144000" cy="145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98884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063" y="284163"/>
            <a:ext cx="7858125" cy="696565"/>
          </a:xfrm>
        </p:spPr>
        <p:txBody>
          <a:bodyPr/>
          <a:lstStyle/>
          <a:p>
            <a:r>
              <a:rPr lang="en-US" sz="2800" dirty="0"/>
              <a:t>CRF – </a:t>
            </a:r>
            <a:r>
              <a:rPr lang="ru-RU" sz="2800" dirty="0"/>
              <a:t>Инструкция по заполнению</a:t>
            </a:r>
            <a:r>
              <a:rPr lang="en-US" sz="28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       </a:t>
            </a:r>
            <a:fld id="{70E255F7-B1E1-4C31-A36F-E955EFB13278}" type="slidenum">
              <a:rPr lang="fr-FR" sz="800" baseline="0" smtClean="0"/>
              <a:pPr>
                <a:defRPr/>
              </a:pPr>
              <a:t>14</a:t>
            </a:fld>
            <a:endParaRPr lang="fr-FR" sz="800" baseline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28058"/>
            <a:ext cx="2031399" cy="1090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88" y="908720"/>
            <a:ext cx="9091812" cy="2664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88" y="3573016"/>
            <a:ext cx="9091812" cy="275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872775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CRF – </a:t>
            </a:r>
            <a:r>
              <a:rPr lang="ru-RU" sz="2800" dirty="0"/>
              <a:t>Инструкция по заполнению</a:t>
            </a:r>
            <a:r>
              <a:rPr lang="en-US" sz="28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       </a:t>
            </a:r>
            <a:fld id="{70E255F7-B1E1-4C31-A36F-E955EFB13278}" type="slidenum">
              <a:rPr lang="fr-FR" sz="800" baseline="0" smtClean="0"/>
              <a:pPr>
                <a:defRPr/>
              </a:pPr>
              <a:t>15</a:t>
            </a:fld>
            <a:endParaRPr lang="fr-FR" sz="800" baseline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28058"/>
            <a:ext cx="2031399" cy="1090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18076"/>
            <a:ext cx="9144000" cy="4903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894628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CRF – </a:t>
            </a:r>
            <a:r>
              <a:rPr lang="ru-RU" sz="2800" dirty="0"/>
              <a:t>Инструкция по заполнению</a:t>
            </a:r>
            <a:r>
              <a:rPr lang="en-US" sz="28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       </a:t>
            </a:r>
            <a:fld id="{70E255F7-B1E1-4C31-A36F-E955EFB13278}" type="slidenum">
              <a:rPr lang="fr-FR" sz="800" baseline="0" smtClean="0"/>
              <a:pPr>
                <a:defRPr/>
              </a:pPr>
              <a:t>16</a:t>
            </a:fld>
            <a:endParaRPr lang="fr-FR" sz="800" baseline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28058"/>
            <a:ext cx="2031399" cy="1090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08720"/>
            <a:ext cx="9113520" cy="20956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600" y="3068960"/>
            <a:ext cx="8467725" cy="323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8879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CRF – </a:t>
            </a:r>
            <a:r>
              <a:rPr lang="ru-RU" sz="2800" dirty="0"/>
              <a:t>Инструкция по заполнению</a:t>
            </a:r>
            <a:r>
              <a:rPr lang="en-US" sz="28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       </a:t>
            </a:r>
            <a:fld id="{70E255F7-B1E1-4C31-A36F-E955EFB13278}" type="slidenum">
              <a:rPr lang="fr-FR" sz="800" baseline="0" smtClean="0"/>
              <a:pPr>
                <a:defRPr/>
              </a:pPr>
              <a:t>17</a:t>
            </a:fld>
            <a:endParaRPr lang="fr-FR" sz="800" baseline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28058"/>
            <a:ext cx="2031399" cy="1090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118078"/>
            <a:ext cx="7776864" cy="4881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478787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CRF – </a:t>
            </a:r>
            <a:r>
              <a:rPr lang="ru-RU" sz="2800" dirty="0"/>
              <a:t>Инструкция по заполнению</a:t>
            </a:r>
            <a:r>
              <a:rPr lang="en-US" sz="28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       </a:t>
            </a:r>
            <a:fld id="{70E255F7-B1E1-4C31-A36F-E955EFB13278}" type="slidenum">
              <a:rPr lang="fr-FR" sz="800" baseline="0" smtClean="0"/>
              <a:pPr>
                <a:defRPr/>
              </a:pPr>
              <a:t>18</a:t>
            </a:fld>
            <a:endParaRPr lang="fr-FR" sz="800" baseline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28058"/>
            <a:ext cx="2031399" cy="1090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24" y="908720"/>
            <a:ext cx="8880231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208" y="3789040"/>
            <a:ext cx="8935863" cy="3434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26725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CRF – </a:t>
            </a:r>
            <a:r>
              <a:rPr lang="ru-RU" sz="2800" dirty="0"/>
              <a:t>Инструкция по заполнению</a:t>
            </a:r>
            <a:r>
              <a:rPr lang="en-US" sz="28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       </a:t>
            </a:r>
            <a:fld id="{70E255F7-B1E1-4C31-A36F-E955EFB13278}" type="slidenum">
              <a:rPr lang="fr-FR" sz="800" baseline="0" smtClean="0"/>
              <a:pPr>
                <a:defRPr/>
              </a:pPr>
              <a:t>19</a:t>
            </a:fld>
            <a:endParaRPr lang="fr-FR" sz="800" baseline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28058"/>
            <a:ext cx="2031399" cy="1090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658363"/>
            <a:ext cx="8599487" cy="40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202496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CRF – </a:t>
            </a:r>
            <a:r>
              <a:rPr lang="ru-RU" sz="2800" dirty="0"/>
              <a:t>Инструкция по заполнению</a:t>
            </a:r>
            <a:r>
              <a:rPr lang="en-US" sz="28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       </a:t>
            </a:r>
            <a:fld id="{70E255F7-B1E1-4C31-A36F-E955EFB13278}" type="slidenum">
              <a:rPr lang="fr-FR" sz="800" baseline="0" smtClean="0"/>
              <a:pPr>
                <a:defRPr/>
              </a:pPr>
              <a:t>20</a:t>
            </a:fld>
            <a:endParaRPr lang="fr-FR" sz="800" baseline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28058"/>
            <a:ext cx="2031399" cy="1090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80728"/>
            <a:ext cx="8599487" cy="2936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60" y="3789040"/>
            <a:ext cx="8587288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076489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CRF – </a:t>
            </a:r>
            <a:r>
              <a:rPr lang="ru-RU" sz="2800" dirty="0"/>
              <a:t>Инструкция по заполнению</a:t>
            </a:r>
            <a:r>
              <a:rPr lang="en-US" sz="28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       </a:t>
            </a:r>
            <a:fld id="{70E255F7-B1E1-4C31-A36F-E955EFB13278}" type="slidenum">
              <a:rPr lang="fr-FR" sz="800" baseline="0" smtClean="0"/>
              <a:pPr>
                <a:defRPr/>
              </a:pPr>
              <a:t>21</a:t>
            </a:fld>
            <a:endParaRPr lang="fr-FR" sz="800" baseline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28058"/>
            <a:ext cx="2031399" cy="1090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68760"/>
            <a:ext cx="8907655" cy="4968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113329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CRF – </a:t>
            </a:r>
            <a:r>
              <a:rPr lang="ru-RU" sz="2800" dirty="0"/>
              <a:t>Инструкция по заполнению</a:t>
            </a:r>
            <a:r>
              <a:rPr lang="en-US" sz="28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       </a:t>
            </a:r>
            <a:fld id="{70E255F7-B1E1-4C31-A36F-E955EFB13278}" type="slidenum">
              <a:rPr lang="fr-FR" sz="800" baseline="0" smtClean="0"/>
              <a:pPr>
                <a:defRPr/>
              </a:pPr>
              <a:t>22</a:t>
            </a:fld>
            <a:endParaRPr lang="fr-FR" sz="800" baseline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28058"/>
            <a:ext cx="2031399" cy="1090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356852"/>
            <a:ext cx="8599487" cy="4626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044543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CRF – </a:t>
            </a:r>
            <a:r>
              <a:rPr lang="ru-RU" sz="2800" dirty="0"/>
              <a:t>Инструкция по заполнению</a:t>
            </a:r>
            <a:r>
              <a:rPr lang="en-US" sz="28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       </a:t>
            </a:r>
            <a:fld id="{70E255F7-B1E1-4C31-A36F-E955EFB13278}" type="slidenum">
              <a:rPr lang="fr-FR" sz="800" baseline="0" smtClean="0"/>
              <a:pPr>
                <a:defRPr/>
              </a:pPr>
              <a:t>23</a:t>
            </a:fld>
            <a:endParaRPr lang="fr-FR" sz="800" baseline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28058"/>
            <a:ext cx="2031399" cy="1090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18078"/>
            <a:ext cx="9143999" cy="51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940157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CRF – </a:t>
            </a:r>
            <a:r>
              <a:rPr lang="ru-RU" sz="2800" dirty="0"/>
              <a:t>Инструкция по заполнению</a:t>
            </a:r>
            <a:r>
              <a:rPr lang="en-US" sz="28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       </a:t>
            </a:r>
            <a:fld id="{70E255F7-B1E1-4C31-A36F-E955EFB13278}" type="slidenum">
              <a:rPr lang="fr-FR" sz="800" baseline="0" smtClean="0"/>
              <a:pPr>
                <a:defRPr/>
              </a:pPr>
              <a:t>24</a:t>
            </a:fld>
            <a:endParaRPr lang="fr-FR" sz="800" baseline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28058"/>
            <a:ext cx="2031399" cy="1090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32" y="1700808"/>
            <a:ext cx="8778875" cy="2654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679678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CRF – </a:t>
            </a:r>
            <a:r>
              <a:rPr lang="ru-RU" sz="2800" dirty="0"/>
              <a:t>Инструкция по заполнению</a:t>
            </a:r>
            <a:r>
              <a:rPr lang="en-US" sz="28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       </a:t>
            </a:r>
            <a:fld id="{70E255F7-B1E1-4C31-A36F-E955EFB13278}" type="slidenum">
              <a:rPr lang="fr-FR" sz="800" baseline="0" smtClean="0"/>
              <a:pPr>
                <a:defRPr/>
              </a:pPr>
              <a:t>25</a:t>
            </a:fld>
            <a:endParaRPr lang="fr-FR" sz="800" baseline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28058"/>
            <a:ext cx="2031399" cy="1090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118077"/>
            <a:ext cx="8728267" cy="5047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72013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CRF – </a:t>
            </a:r>
            <a:r>
              <a:rPr lang="ru-RU" sz="2800" dirty="0"/>
              <a:t>Инструкция по заполнению</a:t>
            </a:r>
            <a:r>
              <a:rPr lang="en-US" sz="28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       </a:t>
            </a:r>
            <a:fld id="{70E255F7-B1E1-4C31-A36F-E955EFB13278}" type="slidenum">
              <a:rPr lang="fr-FR" sz="800" baseline="0" smtClean="0"/>
              <a:pPr>
                <a:defRPr/>
              </a:pPr>
              <a:t>26</a:t>
            </a:fld>
            <a:endParaRPr lang="fr-FR" sz="800" baseline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28058"/>
            <a:ext cx="2031399" cy="1090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118077"/>
            <a:ext cx="8584127" cy="51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118076"/>
            <a:ext cx="8686800" cy="5191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736654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CRF – </a:t>
            </a:r>
            <a:r>
              <a:rPr lang="ru-RU" sz="2800" dirty="0"/>
              <a:t>Инструкция по заполнению</a:t>
            </a:r>
            <a:r>
              <a:rPr lang="en-US" sz="28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       </a:t>
            </a:r>
            <a:fld id="{70E255F7-B1E1-4C31-A36F-E955EFB13278}" type="slidenum">
              <a:rPr lang="fr-FR" sz="800" baseline="0" smtClean="0"/>
              <a:pPr>
                <a:defRPr/>
              </a:pPr>
              <a:t>27</a:t>
            </a:fld>
            <a:endParaRPr lang="fr-FR" sz="800" baseline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28058"/>
            <a:ext cx="2031399" cy="1090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619" y="1340768"/>
            <a:ext cx="8529036" cy="4536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2352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smtClean="0"/>
              <a:t>CRF – </a:t>
            </a:r>
            <a:r>
              <a:rPr lang="ru-RU" sz="2800" dirty="0" smtClean="0"/>
              <a:t>Инструкция по заполнению</a:t>
            </a:r>
            <a:r>
              <a:rPr lang="en-US" sz="2800" dirty="0" smtClean="0"/>
              <a:t> 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       </a:t>
            </a:r>
            <a:fld id="{70E255F7-B1E1-4C31-A36F-E955EFB13278}" type="slidenum">
              <a:rPr lang="fr-FR" sz="800" baseline="0" smtClean="0"/>
              <a:pPr>
                <a:defRPr/>
              </a:pPr>
              <a:t>28</a:t>
            </a:fld>
            <a:endParaRPr lang="fr-FR" sz="800" baseline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28058"/>
            <a:ext cx="2031399" cy="1090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118078"/>
            <a:ext cx="8656135" cy="5047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942127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CRF – </a:t>
            </a:r>
            <a:r>
              <a:rPr lang="ru-RU" sz="2800" dirty="0"/>
              <a:t>Инструкция по заполнению</a:t>
            </a:r>
            <a:r>
              <a:rPr lang="en-US" sz="28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       </a:t>
            </a:r>
            <a:fld id="{70E255F7-B1E1-4C31-A36F-E955EFB13278}" type="slidenum">
              <a:rPr lang="fr-FR" sz="800" baseline="0" smtClean="0"/>
              <a:pPr>
                <a:defRPr/>
              </a:pPr>
              <a:t>29</a:t>
            </a:fld>
            <a:endParaRPr lang="fr-FR" sz="800" baseline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28058"/>
            <a:ext cx="2031399" cy="1090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28800"/>
            <a:ext cx="9036496" cy="2736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420202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CRF – </a:t>
            </a:r>
            <a:r>
              <a:rPr lang="ru-RU" sz="2800" dirty="0"/>
              <a:t>Инструкция по заполнению</a:t>
            </a:r>
            <a:r>
              <a:rPr lang="en-US" sz="28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       </a:t>
            </a:r>
            <a:fld id="{70E255F7-B1E1-4C31-A36F-E955EFB13278}" type="slidenum">
              <a:rPr lang="fr-FR" sz="800" baseline="0" smtClean="0"/>
              <a:pPr>
                <a:defRPr/>
              </a:pPr>
              <a:t>30</a:t>
            </a:fld>
            <a:endParaRPr lang="fr-FR" sz="800" baseline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28058"/>
            <a:ext cx="2031399" cy="1090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5" y="1118078"/>
            <a:ext cx="8512119" cy="51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10279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CRF – </a:t>
            </a:r>
            <a:r>
              <a:rPr lang="ru-RU" sz="2800" dirty="0"/>
              <a:t>Инструкция по заполнению</a:t>
            </a:r>
            <a:r>
              <a:rPr lang="en-US" sz="28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       </a:t>
            </a:r>
            <a:fld id="{70E255F7-B1E1-4C31-A36F-E955EFB13278}" type="slidenum">
              <a:rPr lang="fr-FR" sz="800" baseline="0" smtClean="0"/>
              <a:pPr>
                <a:defRPr/>
              </a:pPr>
              <a:t>31</a:t>
            </a:fld>
            <a:endParaRPr lang="fr-FR" sz="800" baseline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28058"/>
            <a:ext cx="2031399" cy="1090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118078"/>
            <a:ext cx="8280920" cy="5047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614976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CRF – </a:t>
            </a:r>
            <a:r>
              <a:rPr lang="ru-RU" sz="2800" dirty="0"/>
              <a:t>Инструкция по заполнению</a:t>
            </a:r>
            <a:r>
              <a:rPr lang="en-US" sz="28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       </a:t>
            </a:r>
            <a:fld id="{70E255F7-B1E1-4C31-A36F-E955EFB13278}" type="slidenum">
              <a:rPr lang="fr-FR" sz="800" baseline="0" smtClean="0"/>
              <a:pPr>
                <a:defRPr/>
              </a:pPr>
              <a:t>32</a:t>
            </a:fld>
            <a:endParaRPr lang="fr-FR" sz="800" baseline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28058"/>
            <a:ext cx="2031399" cy="1090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45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181" y="1484784"/>
            <a:ext cx="8219474" cy="4248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191593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CRF – </a:t>
            </a:r>
            <a:r>
              <a:rPr lang="ru-RU" sz="2800" dirty="0"/>
              <a:t>Инструкция по заполнению</a:t>
            </a:r>
            <a:r>
              <a:rPr lang="en-US" sz="28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       </a:t>
            </a:r>
            <a:fld id="{70E255F7-B1E1-4C31-A36F-E955EFB13278}" type="slidenum">
              <a:rPr lang="fr-FR" sz="800" baseline="0" smtClean="0"/>
              <a:pPr>
                <a:defRPr/>
              </a:pPr>
              <a:t>33</a:t>
            </a:fld>
            <a:endParaRPr lang="fr-FR" sz="800" baseline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28058"/>
            <a:ext cx="2031399" cy="1090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118078"/>
            <a:ext cx="7704856" cy="51912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932119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CRF – </a:t>
            </a:r>
            <a:r>
              <a:rPr lang="ru-RU" sz="2800" dirty="0"/>
              <a:t>Инструкция по заполнению</a:t>
            </a:r>
            <a:r>
              <a:rPr lang="en-US" sz="28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       </a:t>
            </a:r>
            <a:fld id="{70E255F7-B1E1-4C31-A36F-E955EFB13278}" type="slidenum">
              <a:rPr lang="fr-FR" sz="800" baseline="0" smtClean="0"/>
              <a:pPr>
                <a:defRPr/>
              </a:pPr>
              <a:t>34</a:t>
            </a:fld>
            <a:endParaRPr lang="fr-FR" sz="800" baseline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28058"/>
            <a:ext cx="2031399" cy="1090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50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060848"/>
            <a:ext cx="8064896" cy="2664296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5074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CRF – </a:t>
            </a:r>
            <a:r>
              <a:rPr lang="ru-RU" sz="2800" dirty="0"/>
              <a:t>Инструкция по заполнению</a:t>
            </a:r>
            <a:r>
              <a:rPr lang="en-US" sz="28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       </a:t>
            </a:r>
            <a:fld id="{70E255F7-B1E1-4C31-A36F-E955EFB13278}" type="slidenum">
              <a:rPr lang="fr-FR" sz="800" baseline="0" smtClean="0"/>
              <a:pPr>
                <a:defRPr/>
              </a:pPr>
              <a:t>35</a:t>
            </a:fld>
            <a:endParaRPr lang="fr-FR" sz="800" baseline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28058"/>
            <a:ext cx="2031399" cy="1090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53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782" y="1118078"/>
            <a:ext cx="8698873" cy="5119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153656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CRF – </a:t>
            </a:r>
            <a:r>
              <a:rPr lang="ru-RU" sz="2800" dirty="0"/>
              <a:t>Инструкция по заполнению</a:t>
            </a:r>
            <a:r>
              <a:rPr lang="en-US" sz="28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       </a:t>
            </a:r>
            <a:fld id="{70E255F7-B1E1-4C31-A36F-E955EFB13278}" type="slidenum">
              <a:rPr lang="fr-FR" sz="800" baseline="0" smtClean="0"/>
              <a:pPr>
                <a:defRPr/>
              </a:pPr>
              <a:t>36</a:t>
            </a:fld>
            <a:endParaRPr lang="fr-FR" sz="800" baseline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28058"/>
            <a:ext cx="2031399" cy="1090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55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484784"/>
            <a:ext cx="8728143" cy="3384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18871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476250"/>
            <a:ext cx="6264275" cy="504825"/>
          </a:xfrm>
        </p:spPr>
        <p:txBody>
          <a:bodyPr/>
          <a:lstStyle/>
          <a:p>
            <a:r>
              <a:rPr lang="en-US" sz="2800" dirty="0" smtClean="0"/>
              <a:t>CRF – </a:t>
            </a:r>
            <a:r>
              <a:rPr lang="ru-RU" sz="2800" dirty="0"/>
              <a:t>Инструкция по заполнению</a:t>
            </a:r>
            <a:r>
              <a:rPr lang="en-US" sz="2800" dirty="0"/>
              <a:t> </a:t>
            </a:r>
            <a:endParaRPr lang="en-US" sz="2800" dirty="0" smtClean="0"/>
          </a:p>
        </p:txBody>
      </p:sp>
      <p:pic>
        <p:nvPicPr>
          <p:cNvPr id="35843" name="Picture 5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54" t="30316" r="20476" b="44098"/>
          <a:stretch>
            <a:fillRect/>
          </a:stretch>
        </p:blipFill>
        <p:spPr bwMode="auto">
          <a:xfrm>
            <a:off x="7019925" y="404813"/>
            <a:ext cx="1584325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5844" name="Rectangle 3"/>
          <p:cNvSpPr txBox="1">
            <a:spLocks noChangeArrowheads="1"/>
          </p:cNvSpPr>
          <p:nvPr/>
        </p:nvSpPr>
        <p:spPr bwMode="auto">
          <a:xfrm>
            <a:off x="468313" y="1484313"/>
            <a:ext cx="8167687" cy="865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342900" indent="-3429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just">
              <a:spcBef>
                <a:spcPct val="20000"/>
              </a:spcBef>
              <a:buClr>
                <a:schemeClr val="bg2"/>
              </a:buClr>
              <a:buSzPct val="130000"/>
              <a:buFont typeface="Verdana" pitchFamily="34" charset="0"/>
              <a:buChar char="●"/>
            </a:pPr>
            <a:r>
              <a:rPr lang="ru-RU" sz="2000" dirty="0" smtClean="0">
                <a:ea typeface="Gulim" pitchFamily="34" charset="-127"/>
              </a:rPr>
              <a:t>Необходимо датировать и подписывать каждую форму CRF (последняя страница).</a:t>
            </a:r>
          </a:p>
          <a:p>
            <a:pPr algn="just">
              <a:spcBef>
                <a:spcPct val="20000"/>
              </a:spcBef>
              <a:buClr>
                <a:schemeClr val="bg2"/>
              </a:buClr>
              <a:buSzPct val="130000"/>
              <a:buFont typeface="Verdana" pitchFamily="34" charset="0"/>
              <a:buChar char="●"/>
            </a:pPr>
            <a:r>
              <a:rPr lang="ru-RU" altLang="ko-KR" sz="2000" dirty="0" smtClean="0">
                <a:ea typeface="Gulim" pitchFamily="34" charset="-127"/>
              </a:rPr>
              <a:t>Необходимо проверять формы перед отправкой их в офис </a:t>
            </a:r>
            <a:r>
              <a:rPr lang="ru-RU" altLang="ko-KR" sz="2000" dirty="0" err="1" smtClean="0">
                <a:ea typeface="Gulim" pitchFamily="34" charset="-127"/>
              </a:rPr>
              <a:t>Санофи</a:t>
            </a:r>
            <a:r>
              <a:rPr lang="ru-RU" altLang="ko-KR" sz="2000" dirty="0" smtClean="0">
                <a:ea typeface="Gulim" pitchFamily="34" charset="-127"/>
              </a:rPr>
              <a:t>.</a:t>
            </a:r>
            <a:endParaRPr lang="ru-RU" altLang="ko-KR" sz="2000" dirty="0">
              <a:ea typeface="Gulim" pitchFamily="34" charset="-127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28058"/>
            <a:ext cx="2031399" cy="1090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2924943"/>
            <a:ext cx="8593807" cy="19286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       </a:t>
            </a:r>
            <a:fld id="{70E255F7-B1E1-4C31-A36F-E955EFB13278}" type="slidenum">
              <a:rPr lang="fr-FR" sz="800" baseline="0" smtClean="0"/>
              <a:pPr>
                <a:defRPr/>
              </a:pPr>
              <a:t>37</a:t>
            </a:fld>
            <a:endParaRPr lang="fr-FR" sz="800" baseline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       </a:t>
            </a:r>
            <a:fld id="{D8F45C8D-B136-4221-8E6F-89170A60D72A}" type="slidenum">
              <a:rPr lang="fr-FR" sz="800" baseline="0" smtClean="0"/>
              <a:pPr>
                <a:defRPr/>
              </a:pPr>
              <a:t>38</a:t>
            </a:fld>
            <a:endParaRPr lang="fr-FR" sz="800" baseline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28058"/>
            <a:ext cx="2031399" cy="1090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611187" y="176812"/>
            <a:ext cx="6264275" cy="79251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rgbClr val="989898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rgbClr val="989898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rgbClr val="989898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rgbClr val="989898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rgbClr val="989898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rgbClr val="989898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rgbClr val="989898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rgbClr val="989898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rgbClr val="989898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uk-UA" sz="2800" dirty="0" smtClean="0"/>
              <a:t>Документи для </a:t>
            </a:r>
            <a:r>
              <a:rPr lang="ru-RU" sz="2800" dirty="0" smtClean="0"/>
              <a:t>отправки в офис </a:t>
            </a:r>
            <a:r>
              <a:rPr lang="ru-RU" sz="2800" dirty="0" err="1" smtClean="0"/>
              <a:t>Санофи</a:t>
            </a:r>
            <a:endParaRPr lang="ru-RU" sz="2800" dirty="0" smtClean="0"/>
          </a:p>
          <a:p>
            <a:endParaRPr lang="en-US" sz="2800" dirty="0" smtClean="0"/>
          </a:p>
          <a:p>
            <a:endParaRPr lang="en-US" sz="28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827584" y="1556792"/>
            <a:ext cx="7848872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ru-RU" sz="2800" dirty="0" smtClean="0"/>
              <a:t>Отрывные страницы с CRF (белая и розовая)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 smtClean="0"/>
              <a:t>Physician Questionnaire </a:t>
            </a:r>
            <a:r>
              <a:rPr lang="ru-RU" sz="2800" dirty="0" smtClean="0"/>
              <a:t>(белая и розовая страницы)</a:t>
            </a:r>
          </a:p>
          <a:p>
            <a:pPr marL="285750" indent="-285750">
              <a:buFont typeface="Arial" pitchFamily="34" charset="0"/>
              <a:buChar char="•"/>
            </a:pPr>
            <a:endParaRPr lang="ru-RU" sz="2800" dirty="0" smtClean="0"/>
          </a:p>
          <a:p>
            <a:pPr algn="ctr"/>
            <a:r>
              <a:rPr lang="ru-RU" sz="2400" b="1" dirty="0" smtClean="0"/>
              <a:t>TMM курьер: тел. 0800 500 575 </a:t>
            </a:r>
            <a:endParaRPr lang="ru-RU" sz="2400" dirty="0" smtClean="0"/>
          </a:p>
          <a:p>
            <a:pPr algn="ctr"/>
            <a:r>
              <a:rPr lang="ru-RU" sz="2400" b="1" dirty="0" smtClean="0"/>
              <a:t>Киев, ул. </a:t>
            </a:r>
            <a:r>
              <a:rPr lang="ru-RU" sz="2400" b="1" dirty="0" err="1" smtClean="0"/>
              <a:t>Жилянская</a:t>
            </a:r>
            <a:r>
              <a:rPr lang="ru-RU" sz="2400" b="1" dirty="0" smtClean="0"/>
              <a:t> 48-50А, БЦ «</a:t>
            </a:r>
            <a:r>
              <a:rPr lang="ru-RU" sz="2400" b="1" dirty="0" err="1" smtClean="0"/>
              <a:t>Прайм</a:t>
            </a:r>
            <a:r>
              <a:rPr lang="ru-RU" sz="2400" b="1" dirty="0" smtClean="0"/>
              <a:t>», компания </a:t>
            </a:r>
            <a:r>
              <a:rPr lang="ru-RU" sz="2400" b="1" dirty="0" err="1" smtClean="0"/>
              <a:t>Санофи</a:t>
            </a:r>
            <a:r>
              <a:rPr lang="ru-RU" sz="2400" b="1" dirty="0" smtClean="0"/>
              <a:t>, для Ковалевской Юлии</a:t>
            </a:r>
            <a:endParaRPr lang="ru-RU" sz="2400" dirty="0" smtClean="0"/>
          </a:p>
          <a:p>
            <a:pPr algn="ctr"/>
            <a:r>
              <a:rPr lang="ru-RU" sz="2400" b="1" dirty="0" smtClean="0">
                <a:solidFill>
                  <a:srgbClr val="FF0000"/>
                </a:solidFill>
              </a:rPr>
              <a:t>За счет получателя 26718</a:t>
            </a:r>
            <a:endParaRPr lang="ru-RU" sz="2400" dirty="0" smtClean="0">
              <a:solidFill>
                <a:srgbClr val="FF0000"/>
              </a:solidFill>
            </a:endParaRPr>
          </a:p>
          <a:p>
            <a:pPr marL="285750" indent="-285750">
              <a:buFont typeface="Arial" pitchFamily="34" charset="0"/>
              <a:buChar char="•"/>
            </a:pPr>
            <a:endParaRPr lang="ru-RU" sz="2400" dirty="0" smtClean="0"/>
          </a:p>
        </p:txBody>
      </p:sp>
    </p:spTree>
    <p:extLst>
      <p:ext uri="{BB962C8B-B14F-4D97-AF65-F5344CB8AC3E}">
        <p14:creationId xmlns:p14="http://schemas.microsoft.com/office/powerpoint/2010/main" val="3633962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ZoneTexte 2"/>
          <p:cNvSpPr txBox="1">
            <a:spLocks noChangeArrowheads="1"/>
          </p:cNvSpPr>
          <p:nvPr/>
        </p:nvSpPr>
        <p:spPr bwMode="auto">
          <a:xfrm>
            <a:off x="1691680" y="2702822"/>
            <a:ext cx="597666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ru-RU" sz="3600" b="1" spc="300" dirty="0" smtClean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</a:rPr>
              <a:t>Спасибо за внимание</a:t>
            </a:r>
            <a:endParaRPr lang="ru-RU" sz="3600" b="1" spc="300" dirty="0">
              <a:ln w="11430" cmpd="sng">
                <a:solidFill>
                  <a:schemeClr val="accent1">
                    <a:tint val="10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1">
                      <a:tint val="83000"/>
                      <a:shade val="100000"/>
                      <a:satMod val="200000"/>
                    </a:schemeClr>
                  </a:gs>
                  <a:gs pos="75000">
                    <a:schemeClr val="accent1">
                      <a:tint val="100000"/>
                      <a:shade val="50000"/>
                      <a:satMod val="150000"/>
                    </a:schemeClr>
                  </a:gs>
                </a:gsLst>
                <a:lin ang="5400000"/>
              </a:gradFill>
              <a:effectLst>
                <a:glow rad="45500">
                  <a:schemeClr val="accent1">
                    <a:satMod val="220000"/>
                    <a:alpha val="35000"/>
                  </a:schemeClr>
                </a:glow>
              </a:effectLst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28058"/>
            <a:ext cx="2031399" cy="1090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>
          <a:xfrm>
            <a:off x="8100392" y="6453336"/>
            <a:ext cx="482600" cy="234950"/>
          </a:xfrm>
        </p:spPr>
        <p:txBody>
          <a:bodyPr/>
          <a:lstStyle/>
          <a:p>
            <a:pPr>
              <a:defRPr/>
            </a:pPr>
            <a:r>
              <a:rPr lang="fr-FR" dirty="0" smtClean="0"/>
              <a:t>     </a:t>
            </a:r>
            <a:fld id="{D8F45C8D-B136-4221-8E6F-89170A60D72A}" type="slidenum">
              <a:rPr lang="fr-FR" sz="800" baseline="0" smtClean="0"/>
              <a:pPr>
                <a:defRPr/>
              </a:pPr>
              <a:t>39</a:t>
            </a:fld>
            <a:endParaRPr lang="fr-FR" sz="800" baseline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nception personnalisée">
  <a:themeElements>
    <a:clrScheme name="Conception personnalisée 1">
      <a:dk1>
        <a:srgbClr val="444492"/>
      </a:dk1>
      <a:lt1>
        <a:srgbClr val="FFFFFF"/>
      </a:lt1>
      <a:dk2>
        <a:srgbClr val="ACB317"/>
      </a:dk2>
      <a:lt2>
        <a:srgbClr val="BCA36A"/>
      </a:lt2>
      <a:accent1>
        <a:srgbClr val="9690C4"/>
      </a:accent1>
      <a:accent2>
        <a:srgbClr val="ED5B43"/>
      </a:accent2>
      <a:accent3>
        <a:srgbClr val="FFFFFF"/>
      </a:accent3>
      <a:accent4>
        <a:srgbClr val="39397C"/>
      </a:accent4>
      <a:accent5>
        <a:srgbClr val="C9C6DE"/>
      </a:accent5>
      <a:accent6>
        <a:srgbClr val="D7523C"/>
      </a:accent6>
      <a:hlink>
        <a:srgbClr val="751D1F"/>
      </a:hlink>
      <a:folHlink>
        <a:srgbClr val="99CC00"/>
      </a:folHlink>
    </a:clrScheme>
    <a:fontScheme name="Conception personnalisé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onception personnalisée 1">
        <a:dk1>
          <a:srgbClr val="444492"/>
        </a:dk1>
        <a:lt1>
          <a:srgbClr val="FFFFFF"/>
        </a:lt1>
        <a:dk2>
          <a:srgbClr val="ACB317"/>
        </a:dk2>
        <a:lt2>
          <a:srgbClr val="BCA36A"/>
        </a:lt2>
        <a:accent1>
          <a:srgbClr val="9690C4"/>
        </a:accent1>
        <a:accent2>
          <a:srgbClr val="ED5B43"/>
        </a:accent2>
        <a:accent3>
          <a:srgbClr val="FFFFFF"/>
        </a:accent3>
        <a:accent4>
          <a:srgbClr val="39397C"/>
        </a:accent4>
        <a:accent5>
          <a:srgbClr val="C9C6DE"/>
        </a:accent5>
        <a:accent6>
          <a:srgbClr val="D7523C"/>
        </a:accent6>
        <a:hlink>
          <a:srgbClr val="751D1F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Sanofi_Presentation_Bleu">
  <a:themeElements>
    <a:clrScheme name="Sanofi_Presentation_Bleu 1">
      <a:dk1>
        <a:srgbClr val="444492"/>
      </a:dk1>
      <a:lt1>
        <a:srgbClr val="FFFFFF"/>
      </a:lt1>
      <a:dk2>
        <a:srgbClr val="ACB317"/>
      </a:dk2>
      <a:lt2>
        <a:srgbClr val="BCA36A"/>
      </a:lt2>
      <a:accent1>
        <a:srgbClr val="9690C4"/>
      </a:accent1>
      <a:accent2>
        <a:srgbClr val="ED5B43"/>
      </a:accent2>
      <a:accent3>
        <a:srgbClr val="FFFFFF"/>
      </a:accent3>
      <a:accent4>
        <a:srgbClr val="39397C"/>
      </a:accent4>
      <a:accent5>
        <a:srgbClr val="C9C6DE"/>
      </a:accent5>
      <a:accent6>
        <a:srgbClr val="D7523C"/>
      </a:accent6>
      <a:hlink>
        <a:srgbClr val="751D1F"/>
      </a:hlink>
      <a:folHlink>
        <a:srgbClr val="99CC00"/>
      </a:folHlink>
    </a:clrScheme>
    <a:fontScheme name="Sanofi_Presentation_Bleu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nofi_Presentation_Bleu 1">
        <a:dk1>
          <a:srgbClr val="444492"/>
        </a:dk1>
        <a:lt1>
          <a:srgbClr val="FFFFFF"/>
        </a:lt1>
        <a:dk2>
          <a:srgbClr val="ACB317"/>
        </a:dk2>
        <a:lt2>
          <a:srgbClr val="BCA36A"/>
        </a:lt2>
        <a:accent1>
          <a:srgbClr val="9690C4"/>
        </a:accent1>
        <a:accent2>
          <a:srgbClr val="ED5B43"/>
        </a:accent2>
        <a:accent3>
          <a:srgbClr val="FFFFFF"/>
        </a:accent3>
        <a:accent4>
          <a:srgbClr val="39397C"/>
        </a:accent4>
        <a:accent5>
          <a:srgbClr val="C9C6DE"/>
        </a:accent5>
        <a:accent6>
          <a:srgbClr val="D7523C"/>
        </a:accent6>
        <a:hlink>
          <a:srgbClr val="751D1F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Sanofi_Presentation_Bleu UK</Template>
  <TotalTime>3860</TotalTime>
  <Words>863</Words>
  <Application>Microsoft Office PowerPoint</Application>
  <PresentationFormat>On-screen Show (4:3)</PresentationFormat>
  <Paragraphs>178</Paragraphs>
  <Slides>39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39</vt:i4>
      </vt:variant>
    </vt:vector>
  </HeadingPairs>
  <TitlesOfParts>
    <vt:vector size="41" baseType="lpstr">
      <vt:lpstr>Conception personnalisée</vt:lpstr>
      <vt:lpstr>Sanofi_Presentation_Bleu</vt:lpstr>
      <vt:lpstr> IDMPS Wave 7 Операционные моменты проведения исследования   </vt:lpstr>
      <vt:lpstr>Цель исследования</vt:lpstr>
      <vt:lpstr>Критерии включения/исключения</vt:lpstr>
      <vt:lpstr>Период набора</vt:lpstr>
      <vt:lpstr>PowerPoint Presentation</vt:lpstr>
      <vt:lpstr>Документация исследования</vt:lpstr>
      <vt:lpstr>Инициация центров</vt:lpstr>
      <vt:lpstr>Информированное согласие -  ВАЖНО!!!</vt:lpstr>
      <vt:lpstr>Информированное согласие -  ВАЖНО!!! </vt:lpstr>
      <vt:lpstr>Первичная документация</vt:lpstr>
      <vt:lpstr>CRF – Инструкция по заполнению    </vt:lpstr>
      <vt:lpstr>CRF – Инструкция по заполнению </vt:lpstr>
      <vt:lpstr>CRF – Инструкция по заполнению </vt:lpstr>
      <vt:lpstr>CRF – Инструкция по заполнению </vt:lpstr>
      <vt:lpstr>CRF – Инструкция по заполнению </vt:lpstr>
      <vt:lpstr>CRF – Инструкция по заполнению </vt:lpstr>
      <vt:lpstr>CRF – Инструкция по заполнению </vt:lpstr>
      <vt:lpstr>CRF – Инструкция по заполнению </vt:lpstr>
      <vt:lpstr>CRF – Инструкция по заполнению </vt:lpstr>
      <vt:lpstr>CRF – Инструкция по заполнению </vt:lpstr>
      <vt:lpstr>CRF – Инструкция по заполнению </vt:lpstr>
      <vt:lpstr>CRF – Инструкция по заполнению </vt:lpstr>
      <vt:lpstr>CRF – Инструкция по заполнению </vt:lpstr>
      <vt:lpstr>CRF – Инструкция по заполнению </vt:lpstr>
      <vt:lpstr>CRF – Инструкция по заполнению </vt:lpstr>
      <vt:lpstr>CRF – Инструкция по заполнению </vt:lpstr>
      <vt:lpstr>CRF – Инструкция по заполнению </vt:lpstr>
      <vt:lpstr>CRF – Инструкция по заполнению </vt:lpstr>
      <vt:lpstr>CRF – Инструкция по заполнению </vt:lpstr>
      <vt:lpstr>CRF – Инструкция по заполнению </vt:lpstr>
      <vt:lpstr>CRF – Инструкция по заполнению </vt:lpstr>
      <vt:lpstr>CRF – Инструкция по заполнению </vt:lpstr>
      <vt:lpstr>CRF – Инструкция по заполнению </vt:lpstr>
      <vt:lpstr>CRF – Инструкция по заполнению </vt:lpstr>
      <vt:lpstr>CRF – Инструкция по заполнению </vt:lpstr>
      <vt:lpstr>CRF – Инструкция по заполнению </vt:lpstr>
      <vt:lpstr>CRF – Инструкция по заполнению </vt:lpstr>
      <vt:lpstr>PowerPoint Presentation</vt:lpstr>
      <vt:lpstr>PowerPoint Presentation</vt:lpstr>
    </vt:vector>
  </TitlesOfParts>
  <Company>sanofi-aventis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Compound # / name</dc:title>
  <dc:creator>FR13534</dc:creator>
  <cp:lastModifiedBy>Kovalevska, Iuliia PH/UA/EXT</cp:lastModifiedBy>
  <cp:revision>432</cp:revision>
  <cp:lastPrinted>2016-04-07T11:07:47Z</cp:lastPrinted>
  <dcterms:created xsi:type="dcterms:W3CDTF">2011-10-26T06:49:37Z</dcterms:created>
  <dcterms:modified xsi:type="dcterms:W3CDTF">2016-04-11T12:41:31Z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1013212533</vt:i4>
  </property>
  <property fmtid="{D5CDD505-2E9C-101B-9397-08002B2CF9AE}" pid="3" name="_NewReviewCycle">
    <vt:lpwstr/>
  </property>
  <property fmtid="{D5CDD505-2E9C-101B-9397-08002B2CF9AE}" pid="4" name="_EmailSubject">
    <vt:lpwstr>IDMPS Wave7_Начало набора пациентов</vt:lpwstr>
  </property>
  <property fmtid="{D5CDD505-2E9C-101B-9397-08002B2CF9AE}" pid="5" name="_AuthorEmail">
    <vt:lpwstr>Iuliia.Kovalevska@sanofi.com</vt:lpwstr>
  </property>
  <property fmtid="{D5CDD505-2E9C-101B-9397-08002B2CF9AE}" pid="6" name="_AuthorEmailDisplayName">
    <vt:lpwstr>Kovalevska, Iuliia PH/UA/EXT</vt:lpwstr>
  </property>
  <property fmtid="{D5CDD505-2E9C-101B-9397-08002B2CF9AE}" pid="7" name="_PreviousAdHocReviewCycleID">
    <vt:i4>1013212533</vt:i4>
  </property>
</Properties>
</file>